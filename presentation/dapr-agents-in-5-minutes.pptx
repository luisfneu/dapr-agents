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86f0a338-91ad-3ee9-9b3f-5dfda64773a5}">
          <p14:sldIdLst>
            <p14:sldId id="256"/>
            <p14:sldId id="257"/>
            <p14:sldId id="258"/>
          </p14:sldIdLst>
        </p14:section>
        <p14:section name="How it works" id="{1b351236-9f29-b188-6762-3dd8d92d90b0}">
          <p14:sldIdLst>
            <p14:sldId id="259"/>
            <p14:sldId id="260"/>
          </p14:sldIdLst>
        </p14:section>
        <p14:section name="Demo" id="{6ee0f990-1cb6-6b05-3d18-95be5357c476}">
          <p14:sldIdLst>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to 0:30] Quick intro. Hook: everyone has built an agent in a notebook that works; the problem starts in production, when the process dies in the middle of a 30-second call. Dapr Agents is a framework built to solve exactly that. Agenda: what it is, which problem it solves, use cases,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to 1:30] Dapr is the CNCF microservices runtime: a sidecar that gives you state, pub/sub, workflow, secrets. Dapr Agents is the agent layer on top of it. Core idea: the agent is plain Python; everything that is infrastructure (where state lives, which LLM, how it scales) is handled by the sidecar through YAML components. The same agent runs locally with Redis and Ollama, and in production with Postgres and OpenAI, with zero code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to 2:15] Stress the first row: it is what the demo shows. An agent makes 3 LLM calls and 2 tool calls; if the pod restarts on step four, without durability you pay for everything again and the user waits twice as long. Dapr Workflow records every step; on restart it replays the history and continues. The rest of the table is bonus: memory, LLM swap, queues, tracing.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 to 2:45] Move fast here. Three columns: your code, the sidecar, the backends. The agent never imports a Redis or OpenAI SDK; it talks to localhost:3500 and the sidecar resolves it. That is why the same agent.py runs locally and on Kubernetes.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 to 3:15] Four patterns, one sentence each. Point at the first card: that is the demo. Common thread: whenever the agent has side effects (ticket, refund, email) and slow steps, you need to know exactly which step ran, and never repeat it after a crash.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 to 4:00] Switch to the editor if you prefer; this slide is the fallback. Walk top-down: a tool is a decorated function. DurableAgent gets instructions, tools, the LLM client (by component name), and two stores. The runner exposes HTTP. Nothing here imports OpenAI or Redis.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 to 4:40] Play demo/demo.mp4 (65 seconds) here; narrate over it with the three steps on this slide. Pause it at the Ctrl+C and again when the ticket comes back. If presenting live instead: local Ollama (qwen3:4b), about 8 seconds per question. Terminal 1: ./demo.sh run. Terminal 2: ./demo.sh ask, then ./demo.sh wait with the id. Then ./demo.sh ticket; in terminal 1 press Ctrl+C as soon as "Function name: open_ticket" appears; ./demo.sh run again; ./demo.sh wait with the same id: about 14 seconds later the ticket is opened, and the tool-picking LLM call was not repeated.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 to 5:00] One sentence close: you write the agent, Dapr keeps it alive. Three words: durable, portable, observable. Point to the repo and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5F6F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7315200" cy="320040"/>
          </a:xfrm>
          <a:prstGeom prst="rect">
            <a:avLst/>
          </a:prstGeom>
          <a:noFill/>
          <a:ln/>
        </p:spPr>
        <p:txBody>
          <a:bodyPr wrap="square" rtlCol="0"/>
          <a:lstStyle>
            <a:lvl1pPr indent="0" marL="0">
              <a:buNone/>
              <a:defRPr lang="en-US" sz="1100" b="1" spc="200" kern="0" dirty="0">
                <a:solidFill>
                  <a:srgbClr val="1D5FD1"/>
                </a:solidFill>
              </a:defRPr>
            </a:lvl1pPr>
          </a:lstStyle>
          <a:p>
            <a:pPr indent="0" marL="0">
              <a:buNone/>
            </a:pPr>
            <a:endParaRPr lang="en-US" sz="1100" dirty="0"/>
          </a:p>
        </p:txBody>
      </p:sp>
      <p:sp>
        <p:nvSpPr>
          <p:cNvPr id="3" name="Text 0"/>
          <p:cNvSpPr/>
          <p:nvPr>
            <p:ph idx="101" type="title" hasCustomPrompt="1"/>
          </p:nvPr>
        </p:nvSpPr>
        <p:spPr>
          <a:xfrm>
            <a:off x="548640" y="731520"/>
            <a:ext cx="11091672" cy="1143000"/>
          </a:xfrm>
          <a:prstGeom prst="rect">
            <a:avLst/>
          </a:prstGeom>
          <a:noFill/>
          <a:ln/>
        </p:spPr>
        <p:txBody>
          <a:bodyPr wrap="square" rtlCol="0"/>
          <a:lstStyle>
            <a:lvl1pPr algn="l" indent="0" marL="0">
              <a:buNone/>
              <a:defRPr lang="en-US" sz="3000" b="1" dirty="0">
                <a:solidFill>
                  <a:srgbClr val="16202E"/>
                </a:solidFill>
              </a:defRPr>
            </a:lvl1pPr>
          </a:lstStyle>
          <a:p>
            <a:pPr algn="l" indent="0" marL="0">
              <a:buNone/>
            </a:pPr>
            <a:endParaRPr lang="en-US" sz="3000" dirty="0"/>
          </a:p>
        </p:txBody>
      </p:sp>
      <p:sp>
        <p:nvSpPr>
          <p:cNvPr id="4" name="Text 0"/>
          <p:cNvSpPr/>
          <p:nvPr>
            <p:ph idx="102" type="body" hasCustomPrompt="1"/>
          </p:nvPr>
        </p:nvSpPr>
        <p:spPr>
          <a:xfrm>
            <a:off x="548640" y="6263640"/>
            <a:ext cx="9601200" cy="320040"/>
          </a:xfrm>
          <a:prstGeom prst="rect">
            <a:avLst/>
          </a:prstGeom>
          <a:noFill/>
          <a:ln/>
        </p:spPr>
        <p:txBody>
          <a:bodyPr wrap="square" rtlCol="0"/>
          <a:lstStyle>
            <a:lvl1pPr indent="0" marL="0">
              <a:buNone/>
              <a:defRPr lang="en-US" sz="1100" dirty="0">
                <a:solidFill>
                  <a:srgbClr val="6A7179"/>
                </a:solidFill>
              </a:defRPr>
            </a:lvl1pPr>
          </a:lstStyle>
          <a:p>
            <a:pPr indent="0" marL="0">
              <a:buNone/>
            </a:pPr>
            <a:endParaRPr lang="en-US" sz="1100" dirty="0"/>
          </a:p>
        </p:txBody>
      </p:sp>
      <p:sp>
        <p:nvSpPr>
          <p:cNvPr id="25" name="Slide Number Placeholder 0"/>
          <p:cNvSpPr>
            <a:spLocks noGrp="1"/>
          </p:cNvSpPr>
          <p:nvPr>
            <p:ph type="sldNum" sz="quarter" idx="4294967295"/>
          </p:nvPr>
        </p:nvSpPr>
        <p:spPr>
          <a:xfrm>
            <a:off x="11183112" y="6263640"/>
            <a:ext cx="4572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6A7179"/>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E1726"/>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7315200" cy="320040"/>
          </a:xfrm>
          <a:prstGeom prst="rect">
            <a:avLst/>
          </a:prstGeom>
          <a:noFill/>
          <a:ln/>
        </p:spPr>
        <p:txBody>
          <a:bodyPr wrap="square" rtlCol="0"/>
          <a:lstStyle>
            <a:lvl1pPr indent="0" marL="0">
              <a:buNone/>
              <a:defRPr lang="en-US" sz="1100" b="1" spc="200" kern="0" dirty="0">
                <a:solidFill>
                  <a:srgbClr val="5CA0FF"/>
                </a:solidFill>
              </a:defRPr>
            </a:lvl1pPr>
          </a:lstStyle>
          <a:p>
            <a:pPr indent="0" marL="0">
              <a:buNone/>
            </a:pPr>
            <a:endParaRPr lang="en-US" sz="1100" dirty="0"/>
          </a:p>
        </p:txBody>
      </p:sp>
      <p:sp>
        <p:nvSpPr>
          <p:cNvPr id="3" name="Text 0"/>
          <p:cNvSpPr/>
          <p:nvPr>
            <p:ph idx="101" type="title" hasCustomPrompt="1"/>
          </p:nvPr>
        </p:nvSpPr>
        <p:spPr>
          <a:xfrm>
            <a:off x="548640" y="731520"/>
            <a:ext cx="11091672" cy="1143000"/>
          </a:xfrm>
          <a:prstGeom prst="rect">
            <a:avLst/>
          </a:prstGeom>
          <a:noFill/>
          <a:ln/>
        </p:spPr>
        <p:txBody>
          <a:bodyPr wrap="square" rtlCol="0"/>
          <a:lstStyle>
            <a:lvl1pPr algn="l" indent="0" marL="0">
              <a:buNone/>
              <a:defRPr lang="en-US" sz="3000" b="1" dirty="0">
                <a:solidFill>
                  <a:srgbClr val="F5F6F2"/>
                </a:solidFill>
              </a:defRPr>
            </a:lvl1pPr>
          </a:lstStyle>
          <a:p>
            <a:pPr algn="l" indent="0" marL="0">
              <a:buNone/>
            </a:pPr>
            <a:endParaRPr lang="en-US" sz="3000" dirty="0"/>
          </a:p>
        </p:txBody>
      </p:sp>
      <p:sp>
        <p:nvSpPr>
          <p:cNvPr id="4" name="Text 0"/>
          <p:cNvSpPr/>
          <p:nvPr>
            <p:ph idx="102" type="body" hasCustomPrompt="1"/>
          </p:nvPr>
        </p:nvSpPr>
        <p:spPr>
          <a:xfrm>
            <a:off x="548640" y="6263640"/>
            <a:ext cx="9601200" cy="320040"/>
          </a:xfrm>
          <a:prstGeom prst="rect">
            <a:avLst/>
          </a:prstGeom>
          <a:noFill/>
          <a:ln/>
        </p:spPr>
        <p:txBody>
          <a:bodyPr wrap="square" rtlCol="0"/>
          <a:lstStyle>
            <a:lvl1pPr indent="0" marL="0">
              <a:buNone/>
              <a:defRPr lang="en-US" sz="1100" dirty="0">
                <a:solidFill>
                  <a:srgbClr val="B8C4D6"/>
                </a:solidFill>
              </a:defRPr>
            </a:lvl1pPr>
          </a:lstStyle>
          <a:p>
            <a:pPr indent="0" marL="0">
              <a:buNone/>
            </a:pPr>
            <a:endParaRPr lang="en-US" sz="1100" dirty="0"/>
          </a:p>
        </p:txBody>
      </p:sp>
      <p:sp>
        <p:nvSpPr>
          <p:cNvPr id="25" name="Slide Number Placeholder 0"/>
          <p:cNvSpPr>
            <a:spLocks noGrp="1"/>
          </p:cNvSpPr>
          <p:nvPr>
            <p:ph type="sldNum" sz="quarter" idx="4294967295"/>
          </p:nvPr>
        </p:nvSpPr>
        <p:spPr>
          <a:xfrm>
            <a:off x="11183112" y="6263640"/>
            <a:ext cx="4572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B8C4D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0E1726"/>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548640"/>
            <a:ext cx="7315200" cy="365760"/>
          </a:xfrm>
          <a:prstGeom prst="rect">
            <a:avLst/>
          </a:prstGeom>
          <a:noFill/>
          <a:ln/>
        </p:spPr>
        <p:txBody>
          <a:bodyPr wrap="square" rtlCol="0"/>
          <a:lstStyle>
            <a:lvl1pPr indent="0" marL="0">
              <a:buNone/>
              <a:defRPr lang="en-US" sz="1200" b="1" spc="300" kern="0" dirty="0">
                <a:solidFill>
                  <a:srgbClr val="5CA0FF"/>
                </a:solidFill>
              </a:defRPr>
            </a:lvl1pPr>
          </a:lstStyle>
          <a:p>
            <a:pPr indent="0" marL="0">
              <a:buNone/>
            </a:pPr>
            <a:endParaRPr lang="en-US" sz="1200" dirty="0"/>
          </a:p>
        </p:txBody>
      </p:sp>
      <p:sp>
        <p:nvSpPr>
          <p:cNvPr id="3" name="Text 0"/>
          <p:cNvSpPr/>
          <p:nvPr>
            <p:ph idx="101" type="title" hasCustomPrompt="1"/>
          </p:nvPr>
        </p:nvSpPr>
        <p:spPr>
          <a:xfrm>
            <a:off x="548640" y="2011680"/>
            <a:ext cx="10058400" cy="1828800"/>
          </a:xfrm>
          <a:prstGeom prst="rect">
            <a:avLst/>
          </a:prstGeom>
          <a:noFill/>
          <a:ln/>
        </p:spPr>
        <p:txBody>
          <a:bodyPr wrap="square" rtlCol="0"/>
          <a:lstStyle>
            <a:lvl1pPr algn="l" indent="0" marL="0">
              <a:buNone/>
              <a:defRPr lang="en-US" sz="5400" b="1" dirty="0">
                <a:solidFill>
                  <a:srgbClr val="F5F6F2"/>
                </a:solidFill>
              </a:defRPr>
            </a:lvl1pPr>
          </a:lstStyle>
          <a:p>
            <a:pPr algn="l" indent="0" marL="0">
              <a:buNone/>
            </a:pPr>
            <a:endParaRPr lang="en-US" sz="5400" dirty="0"/>
          </a:p>
        </p:txBody>
      </p:sp>
      <p:sp>
        <p:nvSpPr>
          <p:cNvPr id="4" name="Text 0"/>
          <p:cNvSpPr/>
          <p:nvPr>
            <p:ph idx="102" type="body" hasCustomPrompt="1"/>
          </p:nvPr>
        </p:nvSpPr>
        <p:spPr>
          <a:xfrm>
            <a:off x="548640" y="3931920"/>
            <a:ext cx="9144000" cy="822960"/>
          </a:xfrm>
          <a:prstGeom prst="rect">
            <a:avLst/>
          </a:prstGeom>
          <a:noFill/>
          <a:ln/>
        </p:spPr>
        <p:txBody>
          <a:bodyPr wrap="square" rtlCol="0"/>
          <a:lstStyle>
            <a:lvl1pPr indent="0" marL="0">
              <a:buNone/>
              <a:defRPr lang="en-US" sz="2200" dirty="0">
                <a:solidFill>
                  <a:srgbClr val="B8C4D6"/>
                </a:solidFill>
              </a:defRPr>
            </a:lvl1pPr>
          </a:lstStyle>
          <a:p>
            <a:pPr indent="0" marL="0">
              <a:buNone/>
            </a:pPr>
            <a:endParaRPr lang="en-US" sz="2200" dirty="0"/>
          </a:p>
        </p:txBody>
      </p:sp>
      <p:sp>
        <p:nvSpPr>
          <p:cNvPr id="5" name="Text 0"/>
          <p:cNvSpPr/>
          <p:nvPr>
            <p:ph idx="103" type="body" hasCustomPrompt="1"/>
          </p:nvPr>
        </p:nvSpPr>
        <p:spPr>
          <a:xfrm>
            <a:off x="548640" y="5943600"/>
            <a:ext cx="10058400" cy="365760"/>
          </a:xfrm>
          <a:prstGeom prst="rect">
            <a:avLst/>
          </a:prstGeom>
          <a:noFill/>
          <a:ln/>
        </p:spPr>
        <p:txBody>
          <a:bodyPr wrap="square" rtlCol="0"/>
          <a:lstStyle>
            <a:lvl1pPr indent="0" marL="0">
              <a:buNone/>
              <a:defRPr lang="en-US" sz="1300" dirty="0">
                <a:solidFill>
                  <a:srgbClr val="B8C4D6"/>
                </a:solidFill>
              </a:defRPr>
            </a:lvl1pPr>
          </a:lstStyle>
          <a:p>
            <a:pPr indent="0" marL="0">
              <a:buNone/>
            </a:pPr>
            <a:endParaRPr lang="en-US" sz="13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CCENT">
    <p:bg>
      <p:bgPr>
        <a:solidFill>
          <a:srgbClr val="1D5FD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548640"/>
            <a:ext cx="7315200" cy="365760"/>
          </a:xfrm>
          <a:prstGeom prst="rect">
            <a:avLst/>
          </a:prstGeom>
          <a:noFill/>
          <a:ln/>
        </p:spPr>
        <p:txBody>
          <a:bodyPr wrap="square" rtlCol="0"/>
          <a:lstStyle>
            <a:lvl1pPr indent="0" marL="0">
              <a:buNone/>
              <a:defRPr lang="en-US" sz="1200" b="1" spc="300" kern="0" dirty="0">
                <a:solidFill>
                  <a:srgbClr val="F5F6F2"/>
                </a:solidFill>
              </a:defRPr>
            </a:lvl1pPr>
          </a:lstStyle>
          <a:p>
            <a:pPr indent="0" marL="0">
              <a:buNone/>
            </a:pPr>
            <a:endParaRPr lang="en-US" sz="1200" dirty="0"/>
          </a:p>
        </p:txBody>
      </p:sp>
      <p:sp>
        <p:nvSpPr>
          <p:cNvPr id="3" name="Text 0"/>
          <p:cNvSpPr/>
          <p:nvPr>
            <p:ph idx="101" type="title" hasCustomPrompt="1"/>
          </p:nvPr>
        </p:nvSpPr>
        <p:spPr>
          <a:xfrm>
            <a:off x="548640" y="1371600"/>
            <a:ext cx="10515600" cy="1645920"/>
          </a:xfrm>
          <a:prstGeom prst="rect">
            <a:avLst/>
          </a:prstGeom>
          <a:noFill/>
          <a:ln/>
        </p:spPr>
        <p:txBody>
          <a:bodyPr wrap="square" rtlCol="0"/>
          <a:lstStyle>
            <a:lvl1pPr algn="l" indent="0" marL="0">
              <a:buNone/>
              <a:defRPr lang="en-US" sz="4400" b="1" dirty="0">
                <a:solidFill>
                  <a:srgbClr val="F5F6F2"/>
                </a:solidFill>
              </a:defRPr>
            </a:lvl1pPr>
          </a:lstStyle>
          <a:p>
            <a:pPr algn="l" indent="0" marL="0">
              <a:buNone/>
            </a:pPr>
            <a:endParaRPr lang="en-US" sz="4400" dirty="0"/>
          </a:p>
        </p:txBody>
      </p:sp>
      <p:sp>
        <p:nvSpPr>
          <p:cNvPr id="4" name="Text 0"/>
          <p:cNvSpPr/>
          <p:nvPr>
            <p:ph idx="102" type="body" hasCustomPrompt="1"/>
          </p:nvPr>
        </p:nvSpPr>
        <p:spPr>
          <a:xfrm>
            <a:off x="548640" y="5943600"/>
            <a:ext cx="10972800" cy="365760"/>
          </a:xfrm>
          <a:prstGeom prst="rect">
            <a:avLst/>
          </a:prstGeom>
          <a:noFill/>
          <a:ln/>
        </p:spPr>
        <p:txBody>
          <a:bodyPr wrap="square" rtlCol="0"/>
          <a:lstStyle>
            <a:lvl1pPr indent="0" marL="0">
              <a:buNone/>
              <a:defRPr lang="en-US" sz="1300" dirty="0">
                <a:solidFill>
                  <a:srgbClr val="F5F6F2"/>
                </a:solidFill>
              </a:defRPr>
            </a:lvl1pPr>
          </a:lstStyle>
          <a:p>
            <a:pPr indent="0" marL="0">
              <a:buNone/>
            </a:pP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263640"/>
            <a:ext cx="4572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6A7179"/>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548640"/>
            <a:ext cx="7315200" cy="365760"/>
          </a:xfrm>
          <a:prstGeom prst="rect">
            <a:avLst/>
          </a:prstGeom>
          <a:noFill/>
          <a:ln/>
        </p:spPr>
        <p:txBody>
          <a:bodyPr wrap="square" lIns="0" tIns="0" rIns="0" bIns="0" rtlCol="0"/>
          <a:lstStyle/>
          <a:p>
            <a:pPr indent="0" marL="0">
              <a:buNone/>
            </a:pPr>
            <a:r>
              <a:rPr lang="en-US" sz="1200" b="1" spc="300" kern="0" dirty="0">
                <a:solidFill>
                  <a:srgbClr val="5CA0FF"/>
                </a:solidFill>
              </a:rPr>
              <a:t>DAPR AGENTS</a:t>
            </a:r>
            <a:endParaRPr lang="en-US" sz="1200" dirty="0"/>
          </a:p>
        </p:txBody>
      </p:sp>
      <p:sp>
        <p:nvSpPr>
          <p:cNvPr id="3" name="Text 0"/>
          <p:cNvSpPr/>
          <p:nvPr>
            <p:ph idx="101" type="title" hasCustomPrompt="1"/>
          </p:nvPr>
        </p:nvSpPr>
        <p:spPr>
          <a:xfrm>
            <a:off x="548640" y="2011680"/>
            <a:ext cx="10058400" cy="1828800"/>
          </a:xfrm>
          <a:prstGeom prst="rect">
            <a:avLst/>
          </a:prstGeom>
          <a:noFill/>
          <a:ln/>
        </p:spPr>
        <p:txBody>
          <a:bodyPr wrap="square" lIns="0" tIns="0" rIns="0" bIns="0" rtlCol="0" anchor="t"/>
          <a:lstStyle/>
          <a:p>
            <a:pPr algn="l" indent="0" marL="0">
              <a:buNone/>
            </a:pPr>
            <a:r>
              <a:rPr lang="en-US" sz="5400" b="1" dirty="0">
                <a:solidFill>
                  <a:srgbClr val="F5F6F2"/>
                </a:solidFill>
              </a:rPr>
              <a:t>AI agents that survive production</a:t>
            </a:r>
            <a:endParaRPr lang="en-US" sz="5400" dirty="0"/>
          </a:p>
        </p:txBody>
      </p:sp>
      <p:sp>
        <p:nvSpPr>
          <p:cNvPr id="4" name="Text 0"/>
          <p:cNvSpPr/>
          <p:nvPr>
            <p:ph idx="102" type="body" hasCustomPrompt="1"/>
          </p:nvPr>
        </p:nvSpPr>
        <p:spPr>
          <a:xfrm>
            <a:off x="548640" y="3931920"/>
            <a:ext cx="9144000" cy="822960"/>
          </a:xfrm>
          <a:prstGeom prst="rect">
            <a:avLst/>
          </a:prstGeom>
          <a:noFill/>
          <a:ln/>
        </p:spPr>
        <p:txBody>
          <a:bodyPr wrap="square" lIns="0" tIns="0" rIns="0" bIns="0" rtlCol="0" anchor="t"/>
          <a:lstStyle/>
          <a:p>
            <a:pPr indent="0" marL="0">
              <a:buNone/>
            </a:pPr>
            <a:r>
              <a:rPr lang="en-US" sz="2200" dirty="0">
                <a:solidFill>
                  <a:srgbClr val="B8C4D6"/>
                </a:solidFill>
              </a:rPr>
              <a:t>What it is, what it’s for, and a 2-minute demo with code.</a:t>
            </a:r>
            <a:endParaRPr lang="en-US" sz="2200" dirty="0"/>
          </a:p>
        </p:txBody>
      </p:sp>
      <p:sp>
        <p:nvSpPr>
          <p:cNvPr id="5" name="Text 0"/>
          <p:cNvSpPr/>
          <p:nvPr>
            <p:ph idx="103" type="body" hasCustomPrompt="1"/>
          </p:nvPr>
        </p:nvSpPr>
        <p:spPr>
          <a:xfrm>
            <a:off x="548640" y="5943600"/>
            <a:ext cx="10058400" cy="365760"/>
          </a:xfrm>
          <a:prstGeom prst="rect">
            <a:avLst/>
          </a:prstGeom>
          <a:noFill/>
          <a:ln/>
        </p:spPr>
        <p:txBody>
          <a:bodyPr wrap="square" lIns="0" tIns="0" rIns="0" bIns="0" rtlCol="0"/>
          <a:lstStyle/>
          <a:p>
            <a:pPr indent="0" marL="0">
              <a:buNone/>
            </a:pPr>
            <a:r>
              <a:rPr lang="en-US" sz="1300" dirty="0">
                <a:solidFill>
                  <a:srgbClr val="B8C4D6"/>
                </a:solidFill>
              </a:rPr>
              <a:t>[Your name]   ·   [Event / team]   ·   October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7315200" cy="320040"/>
          </a:xfrm>
          <a:prstGeom prst="rect">
            <a:avLst/>
          </a:prstGeom>
          <a:noFill/>
          <a:ln/>
        </p:spPr>
        <p:txBody>
          <a:bodyPr wrap="square" lIns="0" tIns="0" rIns="0" bIns="0" rtlCol="0"/>
          <a:lstStyle/>
          <a:p>
            <a:pPr indent="0" marL="0">
              <a:buNone/>
            </a:pPr>
            <a:r>
              <a:rPr lang="en-US" sz="1100" b="1" spc="200" kern="0" dirty="0">
                <a:solidFill>
                  <a:srgbClr val="1D5FD1"/>
                </a:solidFill>
              </a:rPr>
              <a:t>WHAT IT IS</a:t>
            </a:r>
            <a:endParaRPr lang="en-US" sz="1100" dirty="0"/>
          </a:p>
        </p:txBody>
      </p:sp>
      <p:sp>
        <p:nvSpPr>
          <p:cNvPr id="3" name="Text 0"/>
          <p:cNvSpPr/>
          <p:nvPr>
            <p:ph idx="101" type="title" hasCustomPrompt="1"/>
          </p:nvPr>
        </p:nvSpPr>
        <p:spPr>
          <a:xfrm>
            <a:off x="548640" y="731520"/>
            <a:ext cx="11091672" cy="1143000"/>
          </a:xfrm>
          <a:prstGeom prst="rect">
            <a:avLst/>
          </a:prstGeom>
          <a:noFill/>
          <a:ln/>
        </p:spPr>
        <p:txBody>
          <a:bodyPr wrap="square" lIns="0" tIns="0" rIns="0" bIns="0" rtlCol="0" anchor="t"/>
          <a:lstStyle/>
          <a:p>
            <a:pPr algn="l" indent="0" marL="0">
              <a:buNone/>
            </a:pPr>
            <a:r>
              <a:rPr lang="en-US" sz="3000" b="1" dirty="0">
                <a:solidFill>
                  <a:srgbClr val="16202E"/>
                </a:solidFill>
              </a:rPr>
              <a:t>A Python framework for AI agents built on top of Dapr</a:t>
            </a:r>
            <a:endParaRPr lang="en-US" sz="3000" dirty="0"/>
          </a:p>
        </p:txBody>
      </p:sp>
      <p:sp>
        <p:nvSpPr>
          <p:cNvPr id="4" name="card Agent = code"/>
          <p:cNvSpPr/>
          <p:nvPr/>
        </p:nvSpPr>
        <p:spPr>
          <a:xfrm>
            <a:off x="548640" y="2148840"/>
            <a:ext cx="3514344" cy="3017520"/>
          </a:xfrm>
          <a:prstGeom prst="roundRect">
            <a:avLst>
              <a:gd name="adj" fmla="val 3636"/>
            </a:avLst>
          </a:prstGeom>
          <a:solidFill>
            <a:srgbClr val="FFFFFF"/>
          </a:solidFill>
          <a:ln w="12700">
            <a:solidFill>
              <a:srgbClr val="DDE1E6"/>
            </a:solidFill>
            <a:prstDash val="solid"/>
          </a:ln>
        </p:spPr>
      </p:sp>
      <p:sp>
        <p:nvSpPr>
          <p:cNvPr id="5" name="badge 1"/>
          <p:cNvSpPr/>
          <p:nvPr/>
        </p:nvSpPr>
        <p:spPr>
          <a:xfrm>
            <a:off x="868680" y="2468880"/>
            <a:ext cx="457200" cy="457200"/>
          </a:xfrm>
          <a:prstGeom prst="ellipse">
            <a:avLst/>
          </a:prstGeom>
          <a:solidFill>
            <a:srgbClr val="1D5FD1"/>
          </a:solidFill>
          <a:ln w="12700">
            <a:solidFill>
              <a:srgbClr val="1D5FD1"/>
            </a:solidFill>
            <a:prstDash val="solid"/>
          </a:ln>
        </p:spPr>
      </p:sp>
      <p:sp>
        <p:nvSpPr>
          <p:cNvPr id="6" name="badge label 1"/>
          <p:cNvSpPr txBox="1"/>
          <p:nvPr/>
        </p:nvSpPr>
        <p:spPr>
          <a:xfrm>
            <a:off x="868680" y="2468880"/>
            <a:ext cx="457200" cy="457200"/>
          </a:xfrm>
          <a:prstGeom prst="rect">
            <a:avLst/>
          </a:prstGeom>
          <a:noFill/>
          <a:ln/>
        </p:spPr>
        <p:txBody>
          <a:bodyPr wrap="square" lIns="0" tIns="0" rIns="0" bIns="0" rtlCol="0" anchor="ctr"/>
          <a:lstStyle/>
          <a:p>
            <a:pPr algn="ctr" indent="0" marL="0">
              <a:buNone/>
            </a:pPr>
            <a:r>
              <a:rPr lang="en-US" sz="1300" b="1" dirty="0">
                <a:solidFill>
                  <a:srgbClr val="F5F6F2"/>
                </a:solidFill>
              </a:rPr>
              <a:t>1</a:t>
            </a:r>
            <a:endParaRPr lang="en-US" sz="1300" dirty="0"/>
          </a:p>
        </p:txBody>
      </p:sp>
      <p:sp>
        <p:nvSpPr>
          <p:cNvPr id="7" name="card title Agent = code"/>
          <p:cNvSpPr txBox="1"/>
          <p:nvPr/>
        </p:nvSpPr>
        <p:spPr>
          <a:xfrm>
            <a:off x="868680" y="3154680"/>
            <a:ext cx="2874264" cy="457200"/>
          </a:xfrm>
          <a:prstGeom prst="rect">
            <a:avLst/>
          </a:prstGeom>
          <a:noFill/>
          <a:ln/>
        </p:spPr>
        <p:txBody>
          <a:bodyPr wrap="square" lIns="0" tIns="0" rIns="0" bIns="0" rtlCol="0" anchor="ctr"/>
          <a:lstStyle/>
          <a:p>
            <a:pPr indent="0" marL="0">
              <a:buNone/>
            </a:pPr>
            <a:r>
              <a:rPr lang="en-US" sz="2000" b="1" dirty="0">
                <a:solidFill>
                  <a:srgbClr val="16202E"/>
                </a:solidFill>
              </a:rPr>
              <a:t>Agent = code</a:t>
            </a:r>
            <a:endParaRPr lang="en-US" sz="2000" dirty="0"/>
          </a:p>
        </p:txBody>
      </p:sp>
      <p:sp>
        <p:nvSpPr>
          <p:cNvPr id="8" name="card body Agent = code"/>
          <p:cNvSpPr txBox="1"/>
          <p:nvPr/>
        </p:nvSpPr>
        <p:spPr>
          <a:xfrm>
            <a:off x="868680" y="3703320"/>
            <a:ext cx="2874264" cy="1645920"/>
          </a:xfrm>
          <a:prstGeom prst="rect">
            <a:avLst/>
          </a:prstGeom>
          <a:noFill/>
          <a:ln/>
        </p:spPr>
        <p:txBody>
          <a:bodyPr wrap="square" lIns="0" tIns="0" rIns="0" bIns="0" rtlCol="0" anchor="t"/>
          <a:lstStyle/>
          <a:p>
            <a:pPr indent="0" marL="0">
              <a:buNone/>
            </a:pPr>
            <a:r>
              <a:rPr lang="en-US" sz="1500" dirty="0">
                <a:solidFill>
                  <a:srgbClr val="4A5568"/>
                </a:solidFill>
              </a:rPr>
              <a:t>LLM + instructions + tools + memory, in one class. You write Python functions; the model decides when to call them.</a:t>
            </a:r>
            <a:endParaRPr lang="en-US" sz="1500" dirty="0"/>
          </a:p>
        </p:txBody>
      </p:sp>
      <p:sp>
        <p:nvSpPr>
          <p:cNvPr id="9" name="card Infra = Dapr"/>
          <p:cNvSpPr/>
          <p:nvPr/>
        </p:nvSpPr>
        <p:spPr>
          <a:xfrm>
            <a:off x="4337304" y="2148840"/>
            <a:ext cx="3514344" cy="3017520"/>
          </a:xfrm>
          <a:prstGeom prst="roundRect">
            <a:avLst>
              <a:gd name="adj" fmla="val 3636"/>
            </a:avLst>
          </a:prstGeom>
          <a:solidFill>
            <a:srgbClr val="FFFFFF"/>
          </a:solidFill>
          <a:ln w="12700">
            <a:solidFill>
              <a:srgbClr val="DDE1E6"/>
            </a:solidFill>
            <a:prstDash val="solid"/>
          </a:ln>
        </p:spPr>
      </p:sp>
      <p:sp>
        <p:nvSpPr>
          <p:cNvPr id="10" name="badge 2"/>
          <p:cNvSpPr/>
          <p:nvPr/>
        </p:nvSpPr>
        <p:spPr>
          <a:xfrm>
            <a:off x="4657344" y="2468880"/>
            <a:ext cx="457200" cy="457200"/>
          </a:xfrm>
          <a:prstGeom prst="ellipse">
            <a:avLst/>
          </a:prstGeom>
          <a:solidFill>
            <a:srgbClr val="1D5FD1"/>
          </a:solidFill>
          <a:ln w="12700">
            <a:solidFill>
              <a:srgbClr val="1D5FD1"/>
            </a:solidFill>
            <a:prstDash val="solid"/>
          </a:ln>
        </p:spPr>
      </p:sp>
      <p:sp>
        <p:nvSpPr>
          <p:cNvPr id="11" name="badge label 2"/>
          <p:cNvSpPr txBox="1"/>
          <p:nvPr/>
        </p:nvSpPr>
        <p:spPr>
          <a:xfrm>
            <a:off x="4657344" y="2468880"/>
            <a:ext cx="457200" cy="457200"/>
          </a:xfrm>
          <a:prstGeom prst="rect">
            <a:avLst/>
          </a:prstGeom>
          <a:noFill/>
          <a:ln/>
        </p:spPr>
        <p:txBody>
          <a:bodyPr wrap="square" lIns="0" tIns="0" rIns="0" bIns="0" rtlCol="0" anchor="ctr"/>
          <a:lstStyle/>
          <a:p>
            <a:pPr algn="ctr" indent="0" marL="0">
              <a:buNone/>
            </a:pPr>
            <a:r>
              <a:rPr lang="en-US" sz="1300" b="1" dirty="0">
                <a:solidFill>
                  <a:srgbClr val="F5F6F2"/>
                </a:solidFill>
              </a:rPr>
              <a:t>2</a:t>
            </a:r>
            <a:endParaRPr lang="en-US" sz="1300" dirty="0"/>
          </a:p>
        </p:txBody>
      </p:sp>
      <p:sp>
        <p:nvSpPr>
          <p:cNvPr id="12" name="card title Infra = Dapr"/>
          <p:cNvSpPr txBox="1"/>
          <p:nvPr/>
        </p:nvSpPr>
        <p:spPr>
          <a:xfrm>
            <a:off x="4657344" y="3154680"/>
            <a:ext cx="2874264" cy="457200"/>
          </a:xfrm>
          <a:prstGeom prst="rect">
            <a:avLst/>
          </a:prstGeom>
          <a:noFill/>
          <a:ln/>
        </p:spPr>
        <p:txBody>
          <a:bodyPr wrap="square" lIns="0" tIns="0" rIns="0" bIns="0" rtlCol="0" anchor="ctr"/>
          <a:lstStyle/>
          <a:p>
            <a:pPr indent="0" marL="0">
              <a:buNone/>
            </a:pPr>
            <a:r>
              <a:rPr lang="en-US" sz="2000" b="1" dirty="0">
                <a:solidFill>
                  <a:srgbClr val="16202E"/>
                </a:solidFill>
              </a:rPr>
              <a:t>Infra = Dapr</a:t>
            </a:r>
            <a:endParaRPr lang="en-US" sz="2000" dirty="0"/>
          </a:p>
        </p:txBody>
      </p:sp>
      <p:sp>
        <p:nvSpPr>
          <p:cNvPr id="13" name="card body Infra = Dapr"/>
          <p:cNvSpPr txBox="1"/>
          <p:nvPr/>
        </p:nvSpPr>
        <p:spPr>
          <a:xfrm>
            <a:off x="4657344" y="3703320"/>
            <a:ext cx="2874264" cy="1645920"/>
          </a:xfrm>
          <a:prstGeom prst="rect">
            <a:avLst/>
          </a:prstGeom>
          <a:noFill/>
          <a:ln/>
        </p:spPr>
        <p:txBody>
          <a:bodyPr wrap="square" lIns="0" tIns="0" rIns="0" bIns="0" rtlCol="0" anchor="t"/>
          <a:lstStyle/>
          <a:p>
            <a:pPr indent="0" marL="0">
              <a:buNone/>
            </a:pPr>
            <a:r>
              <a:rPr lang="en-US" sz="1500" dirty="0">
                <a:solidFill>
                  <a:srgbClr val="4A5568"/>
                </a:solidFill>
              </a:rPr>
              <a:t>State, workflow, pub/sub, secrets and the LLM itself are sidecar building blocks. Swapping a provider is YAML, not code.</a:t>
            </a:r>
            <a:endParaRPr lang="en-US" sz="1500" dirty="0"/>
          </a:p>
        </p:txBody>
      </p:sp>
      <p:sp>
        <p:nvSpPr>
          <p:cNvPr id="14" name="card CNCF project"/>
          <p:cNvSpPr/>
          <p:nvPr/>
        </p:nvSpPr>
        <p:spPr>
          <a:xfrm>
            <a:off x="8125968" y="2148840"/>
            <a:ext cx="3514344" cy="3017520"/>
          </a:xfrm>
          <a:prstGeom prst="roundRect">
            <a:avLst>
              <a:gd name="adj" fmla="val 3636"/>
            </a:avLst>
          </a:prstGeom>
          <a:solidFill>
            <a:srgbClr val="FFFFFF"/>
          </a:solidFill>
          <a:ln w="12700">
            <a:solidFill>
              <a:srgbClr val="DDE1E6"/>
            </a:solidFill>
            <a:prstDash val="solid"/>
          </a:ln>
        </p:spPr>
      </p:sp>
      <p:sp>
        <p:nvSpPr>
          <p:cNvPr id="15" name="badge 3"/>
          <p:cNvSpPr/>
          <p:nvPr/>
        </p:nvSpPr>
        <p:spPr>
          <a:xfrm>
            <a:off x="8446008" y="2468880"/>
            <a:ext cx="457200" cy="457200"/>
          </a:xfrm>
          <a:prstGeom prst="ellipse">
            <a:avLst/>
          </a:prstGeom>
          <a:solidFill>
            <a:srgbClr val="1D5FD1"/>
          </a:solidFill>
          <a:ln w="12700">
            <a:solidFill>
              <a:srgbClr val="1D5FD1"/>
            </a:solidFill>
            <a:prstDash val="solid"/>
          </a:ln>
        </p:spPr>
      </p:sp>
      <p:sp>
        <p:nvSpPr>
          <p:cNvPr id="16" name="badge label 3"/>
          <p:cNvSpPr txBox="1"/>
          <p:nvPr/>
        </p:nvSpPr>
        <p:spPr>
          <a:xfrm>
            <a:off x="8446008" y="2468880"/>
            <a:ext cx="457200" cy="457200"/>
          </a:xfrm>
          <a:prstGeom prst="rect">
            <a:avLst/>
          </a:prstGeom>
          <a:noFill/>
          <a:ln/>
        </p:spPr>
        <p:txBody>
          <a:bodyPr wrap="square" lIns="0" tIns="0" rIns="0" bIns="0" rtlCol="0" anchor="ctr"/>
          <a:lstStyle/>
          <a:p>
            <a:pPr algn="ctr" indent="0" marL="0">
              <a:buNone/>
            </a:pPr>
            <a:r>
              <a:rPr lang="en-US" sz="1300" b="1" dirty="0">
                <a:solidFill>
                  <a:srgbClr val="F5F6F2"/>
                </a:solidFill>
              </a:rPr>
              <a:t>3</a:t>
            </a:r>
            <a:endParaRPr lang="en-US" sz="1300" dirty="0"/>
          </a:p>
        </p:txBody>
      </p:sp>
      <p:sp>
        <p:nvSpPr>
          <p:cNvPr id="17" name="card title CNCF project"/>
          <p:cNvSpPr txBox="1"/>
          <p:nvPr/>
        </p:nvSpPr>
        <p:spPr>
          <a:xfrm>
            <a:off x="8446008" y="3154680"/>
            <a:ext cx="2874264" cy="457200"/>
          </a:xfrm>
          <a:prstGeom prst="rect">
            <a:avLst/>
          </a:prstGeom>
          <a:noFill/>
          <a:ln/>
        </p:spPr>
        <p:txBody>
          <a:bodyPr wrap="square" lIns="0" tIns="0" rIns="0" bIns="0" rtlCol="0" anchor="ctr"/>
          <a:lstStyle/>
          <a:p>
            <a:pPr indent="0" marL="0">
              <a:buNone/>
            </a:pPr>
            <a:r>
              <a:rPr lang="en-US" sz="2000" b="1" dirty="0">
                <a:solidFill>
                  <a:srgbClr val="16202E"/>
                </a:solidFill>
              </a:rPr>
              <a:t>CNCF project</a:t>
            </a:r>
            <a:endParaRPr lang="en-US" sz="2000" dirty="0"/>
          </a:p>
        </p:txBody>
      </p:sp>
      <p:sp>
        <p:nvSpPr>
          <p:cNvPr id="18" name="card body CNCF project"/>
          <p:cNvSpPr txBox="1"/>
          <p:nvPr/>
        </p:nvSpPr>
        <p:spPr>
          <a:xfrm>
            <a:off x="8446008" y="3703320"/>
            <a:ext cx="2874264" cy="1645920"/>
          </a:xfrm>
          <a:prstGeom prst="rect">
            <a:avLst/>
          </a:prstGeom>
          <a:noFill/>
          <a:ln/>
        </p:spPr>
        <p:txBody>
          <a:bodyPr wrap="square" lIns="0" tIns="0" rIns="0" bIns="0" rtlCol="0" anchor="t"/>
          <a:lstStyle/>
          <a:p>
            <a:pPr indent="0" marL="0">
              <a:buNone/>
            </a:pPr>
            <a:r>
              <a:rPr lang="en-US" sz="1500" dirty="0">
                <a:solidFill>
                  <a:srgbClr val="4A5568"/>
                </a:solidFill>
              </a:rPr>
              <a:t>Open source, maintained by the Dapr project. Same foundation that has run microservices in production for years.</a:t>
            </a:r>
            <a:endParaRPr lang="en-US" sz="1500" dirty="0"/>
          </a:p>
        </p:txBody>
      </p:sp>
      <p:sp>
        <p:nvSpPr>
          <p:cNvPr id="19" name="Text 0"/>
          <p:cNvSpPr/>
          <p:nvPr>
            <p:ph idx="102" type="body" hasCustomPrompt="1"/>
          </p:nvPr>
        </p:nvSpPr>
        <p:spPr>
          <a:xfrm>
            <a:off x="548640" y="6263640"/>
            <a:ext cx="9601200" cy="320040"/>
          </a:xfrm>
          <a:prstGeom prst="rect">
            <a:avLst/>
          </a:prstGeom>
          <a:noFill/>
          <a:ln/>
        </p:spPr>
        <p:txBody>
          <a:bodyPr wrap="square" lIns="0" tIns="0" rIns="0" bIns="0" rtlCol="0"/>
          <a:lstStyle/>
          <a:p>
            <a:pPr indent="0" marL="0">
              <a:buNone/>
            </a:pPr>
            <a:r>
              <a:rPr lang="en-US" sz="1100" dirty="0">
                <a:solidFill>
                  <a:srgbClr val="6A7179"/>
                </a:solidFill>
              </a:rPr>
              <a:t>github.com/dapr/dapr-agents   ·   pip install dapr-agents</a:t>
            </a:r>
            <a:endParaRPr lang="en-US" sz="1100" dirty="0"/>
          </a:p>
        </p:txBody>
      </p:sp>
      <p:sp>
        <p:nvSpPr>
          <p:cNvPr id="25" name="Slide Number Placeholder 0"/>
          <p:cNvSpPr>
            <a:spLocks noGrp="1"/>
          </p:cNvSpPr>
          <p:nvPr>
            <p:ph type="sldNum" sz="quarter" idx="4294967295"/>
          </p:nvPr>
        </p:nvSpPr>
        <p:spPr>
          <a:xfrm>
            <a:off x="11183112" y="6263640"/>
            <a:ext cx="4572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6A7179"/>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7315200" cy="320040"/>
          </a:xfrm>
          <a:prstGeom prst="rect">
            <a:avLst/>
          </a:prstGeom>
          <a:noFill/>
          <a:ln/>
        </p:spPr>
        <p:txBody>
          <a:bodyPr wrap="square" lIns="0" tIns="0" rIns="0" bIns="0" rtlCol="0"/>
          <a:lstStyle/>
          <a:p>
            <a:pPr indent="0" marL="0">
              <a:buNone/>
            </a:pPr>
            <a:r>
              <a:rPr lang="en-US" sz="1100" b="1" spc="200" kern="0" dirty="0">
                <a:solidFill>
                  <a:srgbClr val="1D5FD1"/>
                </a:solidFill>
              </a:rPr>
              <a:t>WHAT IT’S FOR</a:t>
            </a:r>
            <a:endParaRPr lang="en-US" sz="1100" dirty="0"/>
          </a:p>
        </p:txBody>
      </p:sp>
      <p:sp>
        <p:nvSpPr>
          <p:cNvPr id="3" name="Text 0"/>
          <p:cNvSpPr/>
          <p:nvPr>
            <p:ph idx="101" type="title" hasCustomPrompt="1"/>
          </p:nvPr>
        </p:nvSpPr>
        <p:spPr>
          <a:xfrm>
            <a:off x="548640" y="731520"/>
            <a:ext cx="11091672" cy="1143000"/>
          </a:xfrm>
          <a:prstGeom prst="rect">
            <a:avLst/>
          </a:prstGeom>
          <a:noFill/>
          <a:ln/>
        </p:spPr>
        <p:txBody>
          <a:bodyPr wrap="square" lIns="0" tIns="0" rIns="0" bIns="0" rtlCol="0" anchor="t"/>
          <a:lstStyle/>
          <a:p>
            <a:pPr algn="l" indent="0" marL="0">
              <a:buNone/>
            </a:pPr>
            <a:r>
              <a:rPr lang="en-US" sz="3000" b="1" dirty="0">
                <a:solidFill>
                  <a:srgbClr val="16202E"/>
                </a:solidFill>
              </a:rPr>
              <a:t>An agent in a notebook works. An agent in production breaks.</a:t>
            </a:r>
            <a:endParaRPr lang="en-US" sz="3000" dirty="0"/>
          </a:p>
        </p:txBody>
      </p:sp>
      <p:graphicFrame>
        <p:nvGraphicFramePr>
          <p:cNvPr id="4" name="comparison table"/>
          <p:cNvGraphicFramePr>
            <a:graphicFrameLocks noGrp="1"/>
          </p:cNvGraphicFramePr>
          <p:nvPr>
            <p:extLst>
              <p:ext uri="{D42A27DB-BD31-4B8C-83A1-F6EECF244321}">
                <p14:modId xmlns:p14="http://schemas.microsoft.com/office/powerpoint/2010/main" val="1579011935"/>
              </p:ext>
            </p:extLst>
          </p:nvPr>
        </p:nvGraphicFramePr>
        <p:xfrm>
          <a:off x="548640" y="2148840"/>
          <a:ext cx="11091672" cy="914400"/>
        </p:xfrm>
        <a:graphic>
          <a:graphicData uri="http://schemas.openxmlformats.org/drawingml/2006/table">
            <a:tbl>
              <a:tblPr/>
              <a:tblGrid>
                <a:gridCol w="4206240"/>
                <a:gridCol w="6885432"/>
              </a:tblGrid>
              <a:tr h="566928">
                <a:tc>
                  <a:txBody>
                    <a:bodyPr/>
                    <a:lstStyle/>
                    <a:p>
                      <a:pPr indent="0" marL="0">
                        <a:buNone/>
                      </a:pPr>
                      <a:r>
                        <a:rPr lang="en-US" sz="1400" b="1" dirty="0">
                          <a:solidFill>
                            <a:srgbClr val="F5F6F2"/>
                          </a:solidFill>
                          <a:latin typeface="Calibri" pitchFamily="34" charset="0"/>
                          <a:ea typeface="Calibri" pitchFamily="34" charset="-122"/>
                          <a:cs typeface="Calibri" pitchFamily="34" charset="-120"/>
                        </a:rPr>
                        <a:t>Without Dapr Agents</a:t>
                      </a:r>
                      <a:endParaRPr lang="en-US" sz="1400" dirty="0">
                        <a:latin typeface="Calibri" charset="0"/>
                        <a:ea typeface="Calibri" charset="0"/>
                        <a:cs typeface="Calibri" charset="0"/>
                      </a:endParaRPr>
                    </a:p>
                  </a:txBody>
                  <a:tcPr marL="137160" marR="137160" marT="91440" marB="91440" anchor="ctr">
                    <a:lnL w="12700" cap="flat" cmpd="sng" algn="ctr">
                      <a:solidFill>
                        <a:srgbClr val="DDE1E6"/>
                      </a:solidFill>
                      <a:prstDash val="solid"/>
                      <a:round/>
                      <a:headEnd type="none" w="med" len="med"/>
                      <a:tailEnd type="none" w="med" len="med"/>
                    </a:lnL>
                    <a:lnR w="12700" cap="flat" cmpd="sng" algn="ctr">
                      <a:solidFill>
                        <a:srgbClr val="DDE1E6"/>
                      </a:solidFill>
                      <a:prstDash val="solid"/>
                      <a:round/>
                      <a:headEnd type="none" w="med" len="med"/>
                      <a:tailEnd type="none" w="med" len="med"/>
                    </a:lnR>
                    <a:lnT w="12700" cap="flat" cmpd="sng" algn="ctr">
                      <a:solidFill>
                        <a:srgbClr val="DDE1E6"/>
                      </a:solidFill>
                      <a:prstDash val="solid"/>
                      <a:round/>
                      <a:headEnd type="none" w="med" len="med"/>
                      <a:tailEnd type="none" w="med" len="med"/>
                    </a:lnT>
                    <a:lnB w="12700" cap="flat" cmpd="sng" algn="ctr">
                      <a:solidFill>
                        <a:srgbClr val="DDE1E6"/>
                      </a:solidFill>
                      <a:prstDash val="solid"/>
                      <a:round/>
                      <a:headEnd type="none" w="med" len="med"/>
                      <a:tailEnd type="none" w="med" len="med"/>
                    </a:lnB>
                    <a:solidFill>
                      <a:srgbClr val="0E1726"/>
                    </a:solidFill>
                  </a:tcPr>
                </a:tc>
                <a:tc>
                  <a:txBody>
                    <a:bodyPr/>
                    <a:lstStyle/>
                    <a:p>
                      <a:pPr indent="0" marL="0">
                        <a:buNone/>
                      </a:pPr>
                      <a:r>
                        <a:rPr lang="en-US" sz="1400" b="1" dirty="0">
                          <a:solidFill>
                            <a:srgbClr val="F5F6F2"/>
                          </a:solidFill>
                          <a:latin typeface="Calibri" pitchFamily="34" charset="0"/>
                          <a:ea typeface="Calibri" pitchFamily="34" charset="-122"/>
                          <a:cs typeface="Calibri" pitchFamily="34" charset="-120"/>
                        </a:rPr>
                        <a:t>With Dapr Agents</a:t>
                      </a:r>
                      <a:endParaRPr lang="en-US" sz="1400" dirty="0">
                        <a:latin typeface="Calibri" charset="0"/>
                        <a:ea typeface="Calibri" charset="0"/>
                        <a:cs typeface="Calibri" charset="0"/>
                      </a:endParaRPr>
                    </a:p>
                  </a:txBody>
                  <a:tcPr marL="137160" marR="137160" marT="91440" marB="91440" anchor="ctr">
                    <a:lnL w="12700" cap="flat" cmpd="sng" algn="ctr">
                      <a:solidFill>
                        <a:srgbClr val="DDE1E6"/>
                      </a:solidFill>
                      <a:prstDash val="solid"/>
                      <a:round/>
                      <a:headEnd type="none" w="med" len="med"/>
                      <a:tailEnd type="none" w="med" len="med"/>
                    </a:lnL>
                    <a:lnR w="12700" cap="flat" cmpd="sng" algn="ctr">
                      <a:solidFill>
                        <a:srgbClr val="DDE1E6"/>
                      </a:solidFill>
                      <a:prstDash val="solid"/>
                      <a:round/>
                      <a:headEnd type="none" w="med" len="med"/>
                      <a:tailEnd type="none" w="med" len="med"/>
                    </a:lnR>
                    <a:lnT w="12700" cap="flat" cmpd="sng" algn="ctr">
                      <a:solidFill>
                        <a:srgbClr val="DDE1E6"/>
                      </a:solidFill>
                      <a:prstDash val="solid"/>
                      <a:round/>
                      <a:headEnd type="none" w="med" len="med"/>
                      <a:tailEnd type="none" w="med" len="med"/>
                    </a:lnT>
                    <a:lnB w="12700" cap="flat" cmpd="sng" algn="ctr">
                      <a:solidFill>
                        <a:srgbClr val="DDE1E6"/>
                      </a:solidFill>
                      <a:prstDash val="solid"/>
                      <a:round/>
                      <a:headEnd type="none" w="med" len="med"/>
                      <a:tailEnd type="none" w="med" len="med"/>
                    </a:lnB>
                    <a:solidFill>
                      <a:srgbClr val="0E1726"/>
                    </a:solidFill>
                  </a:tcPr>
                </a:tc>
              </a:tr>
              <a:tr h="566928">
                <a:tc>
                  <a:txBody>
                    <a:bodyPr/>
                    <a:lstStyle/>
                    <a:p>
                      <a:pPr indent="0" marL="0">
                        <a:buNone/>
                      </a:pPr>
                      <a:r>
                        <a:rPr lang="en-US" sz="1400" dirty="0">
                          <a:solidFill>
                            <a:srgbClr val="4A5568"/>
                          </a:solidFill>
                          <a:latin typeface="Calibri" pitchFamily="34" charset="0"/>
                          <a:ea typeface="Calibri" pitchFamily="34" charset="-122"/>
                          <a:cs typeface="Calibri" pitchFamily="34" charset="-120"/>
                        </a:rPr>
                        <a:t>Process dies mid-way through a 30s tool call: everything is lost, start over</a:t>
                      </a:r>
                      <a:endParaRPr lang="en-US" sz="1400" dirty="0">
                        <a:latin typeface="Calibri" charset="0"/>
                        <a:ea typeface="Calibri" charset="0"/>
                        <a:cs typeface="Calibri" charset="0"/>
                      </a:endParaRPr>
                    </a:p>
                  </a:txBody>
                  <a:tcPr marL="137160" marR="137160" marT="91440" marB="91440" anchor="ctr">
                    <a:lnL w="12700" cap="flat" cmpd="sng" algn="ctr">
                      <a:solidFill>
                        <a:srgbClr val="DDE1E6"/>
                      </a:solidFill>
                      <a:prstDash val="solid"/>
                      <a:round/>
                      <a:headEnd type="none" w="med" len="med"/>
                      <a:tailEnd type="none" w="med" len="med"/>
                    </a:lnL>
                    <a:lnR w="12700" cap="flat" cmpd="sng" algn="ctr">
                      <a:solidFill>
                        <a:srgbClr val="DDE1E6"/>
                      </a:solidFill>
                      <a:prstDash val="solid"/>
                      <a:round/>
                      <a:headEnd type="none" w="med" len="med"/>
                      <a:tailEnd type="none" w="med" len="med"/>
                    </a:lnR>
                    <a:lnT w="12700" cap="flat" cmpd="sng" algn="ctr">
                      <a:solidFill>
                        <a:srgbClr val="DDE1E6"/>
                      </a:solidFill>
                      <a:prstDash val="solid"/>
                      <a:round/>
                      <a:headEnd type="none" w="med" len="med"/>
                      <a:tailEnd type="none" w="med" len="med"/>
                    </a:lnT>
                    <a:lnB w="1270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b="1" dirty="0">
                          <a:solidFill>
                            <a:srgbClr val="16202E"/>
                          </a:solidFill>
                          <a:latin typeface="Calibri" pitchFamily="34" charset="0"/>
                          <a:ea typeface="Calibri" pitchFamily="34" charset="-122"/>
                          <a:cs typeface="Calibri" pitchFamily="34" charset="-120"/>
                        </a:rPr>
                        <a:t>Durable execution</a:t>
                      </a:r>
                      <a:pPr indent="0" marL="0">
                        <a:buNone/>
                      </a:pPr>
                      <a:r>
                        <a:rPr lang="en-US" sz="1400" dirty="0">
                          <a:solidFill>
                            <a:srgbClr val="4A5568"/>
                          </a:solidFill>
                          <a:latin typeface="Calibri" pitchFamily="34" charset="0"/>
                          <a:ea typeface="Calibri" pitchFamily="34" charset="-122"/>
                          <a:cs typeface="Calibri" pitchFamily="34" charset="-120"/>
                        </a:rPr>
                        <a:t>: every step is a workflow checkpoint; resumes where it stopped</a:t>
                      </a:r>
                      <a:endParaRPr lang="en-US" sz="1400" dirty="0">
                        <a:latin typeface="Calibri" charset="0"/>
                        <a:ea typeface="Calibri" charset="0"/>
                        <a:cs typeface="Calibri" charset="0"/>
                      </a:endParaRPr>
                    </a:p>
                  </a:txBody>
                  <a:tcPr marL="137160" marR="137160" marT="91440" marB="91440" anchor="ctr">
                    <a:lnL w="12700" cap="flat" cmpd="sng" algn="ctr">
                      <a:solidFill>
                        <a:srgbClr val="DDE1E6"/>
                      </a:solidFill>
                      <a:prstDash val="solid"/>
                      <a:round/>
                      <a:headEnd type="none" w="med" len="med"/>
                      <a:tailEnd type="none" w="med" len="med"/>
                    </a:lnL>
                    <a:lnR w="12700" cap="flat" cmpd="sng" algn="ctr">
                      <a:solidFill>
                        <a:srgbClr val="DDE1E6"/>
                      </a:solidFill>
                      <a:prstDash val="solid"/>
                      <a:round/>
                      <a:headEnd type="none" w="med" len="med"/>
                      <a:tailEnd type="none" w="med" len="med"/>
                    </a:lnR>
                    <a:lnT w="12700" cap="flat" cmpd="sng" algn="ctr">
                      <a:solidFill>
                        <a:srgbClr val="DDE1E6"/>
                      </a:solidFill>
                      <a:prstDash val="solid"/>
                      <a:round/>
                      <a:headEnd type="none" w="med" len="med"/>
                      <a:tailEnd type="none" w="med" len="med"/>
                    </a:lnT>
                    <a:lnB w="12700" cap="flat" cmpd="sng" algn="ctr">
                      <a:solidFill>
                        <a:srgbClr val="DDE1E6"/>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4A5568"/>
                          </a:solidFill>
                          <a:latin typeface="Calibri" pitchFamily="34" charset="0"/>
                          <a:ea typeface="Calibri" pitchFamily="34" charset="-122"/>
                          <a:cs typeface="Calibri" pitchFamily="34" charset="-120"/>
                        </a:rPr>
                        <a:t>Conversation history lives in RAM</a:t>
                      </a:r>
                      <a:endParaRPr lang="en-US" sz="1400" dirty="0">
                        <a:latin typeface="Calibri" charset="0"/>
                        <a:ea typeface="Calibri" charset="0"/>
                        <a:cs typeface="Calibri" charset="0"/>
                      </a:endParaRPr>
                    </a:p>
                  </a:txBody>
                  <a:tcPr marL="137160" marR="137160" marT="91440" marB="91440" anchor="ctr">
                    <a:lnL w="12700" cap="flat" cmpd="sng" algn="ctr">
                      <a:solidFill>
                        <a:srgbClr val="DDE1E6"/>
                      </a:solidFill>
                      <a:prstDash val="solid"/>
                      <a:round/>
                      <a:headEnd type="none" w="med" len="med"/>
                      <a:tailEnd type="none" w="med" len="med"/>
                    </a:lnL>
                    <a:lnR w="12700" cap="flat" cmpd="sng" algn="ctr">
                      <a:solidFill>
                        <a:srgbClr val="DDE1E6"/>
                      </a:solidFill>
                      <a:prstDash val="solid"/>
                      <a:round/>
                      <a:headEnd type="none" w="med" len="med"/>
                      <a:tailEnd type="none" w="med" len="med"/>
                    </a:lnR>
                    <a:lnT w="12700" cap="flat" cmpd="sng" algn="ctr">
                      <a:solidFill>
                        <a:srgbClr val="DDE1E6"/>
                      </a:solidFill>
                      <a:prstDash val="solid"/>
                      <a:round/>
                      <a:headEnd type="none" w="med" len="med"/>
                      <a:tailEnd type="none" w="med" len="med"/>
                    </a:lnT>
                    <a:lnB w="1270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b="1" dirty="0">
                          <a:solidFill>
                            <a:srgbClr val="16202E"/>
                          </a:solidFill>
                          <a:latin typeface="Calibri" pitchFamily="34" charset="0"/>
                          <a:ea typeface="Calibri" pitchFamily="34" charset="-122"/>
                          <a:cs typeface="Calibri" pitchFamily="34" charset="-120"/>
                        </a:rPr>
                        <a:t>Memory in a state store</a:t>
                      </a:r>
                      <a:pPr indent="0" marL="0">
                        <a:buNone/>
                      </a:pPr>
                      <a:r>
                        <a:rPr lang="en-US" sz="1400" dirty="0">
                          <a:solidFill>
                            <a:srgbClr val="4A5568"/>
                          </a:solidFill>
                          <a:latin typeface="Calibri" pitchFamily="34" charset="0"/>
                          <a:ea typeface="Calibri" pitchFamily="34" charset="-122"/>
                          <a:cs typeface="Calibri" pitchFamily="34" charset="-120"/>
                        </a:rPr>
                        <a:t>: survives restarts and scales horizontally</a:t>
                      </a:r>
                      <a:endParaRPr lang="en-US" sz="1400" dirty="0">
                        <a:latin typeface="Calibri" charset="0"/>
                        <a:ea typeface="Calibri" charset="0"/>
                        <a:cs typeface="Calibri" charset="0"/>
                      </a:endParaRPr>
                    </a:p>
                  </a:txBody>
                  <a:tcPr marL="137160" marR="137160" marT="91440" marB="91440" anchor="ctr">
                    <a:lnL w="12700" cap="flat" cmpd="sng" algn="ctr">
                      <a:solidFill>
                        <a:srgbClr val="DDE1E6"/>
                      </a:solidFill>
                      <a:prstDash val="solid"/>
                      <a:round/>
                      <a:headEnd type="none" w="med" len="med"/>
                      <a:tailEnd type="none" w="med" len="med"/>
                    </a:lnL>
                    <a:lnR w="12700" cap="flat" cmpd="sng" algn="ctr">
                      <a:solidFill>
                        <a:srgbClr val="DDE1E6"/>
                      </a:solidFill>
                      <a:prstDash val="solid"/>
                      <a:round/>
                      <a:headEnd type="none" w="med" len="med"/>
                      <a:tailEnd type="none" w="med" len="med"/>
                    </a:lnR>
                    <a:lnT w="12700" cap="flat" cmpd="sng" algn="ctr">
                      <a:solidFill>
                        <a:srgbClr val="DDE1E6"/>
                      </a:solidFill>
                      <a:prstDash val="solid"/>
                      <a:round/>
                      <a:headEnd type="none" w="med" len="med"/>
                      <a:tailEnd type="none" w="med" len="med"/>
                    </a:lnT>
                    <a:lnB w="12700" cap="flat" cmpd="sng" algn="ctr">
                      <a:solidFill>
                        <a:srgbClr val="DDE1E6"/>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4A5568"/>
                          </a:solidFill>
                          <a:latin typeface="Calibri" pitchFamily="34" charset="0"/>
                          <a:ea typeface="Calibri" pitchFamily="34" charset="-122"/>
                          <a:cs typeface="Calibri" pitchFamily="34" charset="-120"/>
                        </a:rPr>
                        <a:t>Each LLM vendor SDK hardcoded in the app</a:t>
                      </a:r>
                      <a:endParaRPr lang="en-US" sz="1400" dirty="0">
                        <a:latin typeface="Calibri" charset="0"/>
                        <a:ea typeface="Calibri" charset="0"/>
                        <a:cs typeface="Calibri" charset="0"/>
                      </a:endParaRPr>
                    </a:p>
                  </a:txBody>
                  <a:tcPr marL="137160" marR="137160" marT="91440" marB="91440" anchor="ctr">
                    <a:lnL w="12700" cap="flat" cmpd="sng" algn="ctr">
                      <a:solidFill>
                        <a:srgbClr val="DDE1E6"/>
                      </a:solidFill>
                      <a:prstDash val="solid"/>
                      <a:round/>
                      <a:headEnd type="none" w="med" len="med"/>
                      <a:tailEnd type="none" w="med" len="med"/>
                    </a:lnL>
                    <a:lnR w="12700" cap="flat" cmpd="sng" algn="ctr">
                      <a:solidFill>
                        <a:srgbClr val="DDE1E6"/>
                      </a:solidFill>
                      <a:prstDash val="solid"/>
                      <a:round/>
                      <a:headEnd type="none" w="med" len="med"/>
                      <a:tailEnd type="none" w="med" len="med"/>
                    </a:lnR>
                    <a:lnT w="12700" cap="flat" cmpd="sng" algn="ctr">
                      <a:solidFill>
                        <a:srgbClr val="DDE1E6"/>
                      </a:solidFill>
                      <a:prstDash val="solid"/>
                      <a:round/>
                      <a:headEnd type="none" w="med" len="med"/>
                      <a:tailEnd type="none" w="med" len="med"/>
                    </a:lnT>
                    <a:lnB w="1270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b="1" dirty="0">
                          <a:solidFill>
                            <a:srgbClr val="16202E"/>
                          </a:solidFill>
                          <a:latin typeface="Calibri" pitchFamily="34" charset="0"/>
                          <a:ea typeface="Calibri" pitchFamily="34" charset="-122"/>
                          <a:cs typeface="Calibri" pitchFamily="34" charset="-120"/>
                        </a:rPr>
                        <a:t>Conversation API</a:t>
                      </a:r>
                      <a:pPr indent="0" marL="0">
                        <a:buNone/>
                      </a:pPr>
                      <a:r>
                        <a:rPr lang="en-US" sz="1400" dirty="0">
                          <a:solidFill>
                            <a:srgbClr val="4A5568"/>
                          </a:solidFill>
                          <a:latin typeface="Calibri" pitchFamily="34" charset="0"/>
                          <a:ea typeface="Calibri" pitchFamily="34" charset="-122"/>
                          <a:cs typeface="Calibri" pitchFamily="34" charset="-120"/>
                        </a:rPr>
                        <a:t>: OpenAI, Anthropic, Ollama, Bedrock via YAML</a:t>
                      </a:r>
                      <a:endParaRPr lang="en-US" sz="1400" dirty="0">
                        <a:latin typeface="Calibri" charset="0"/>
                        <a:ea typeface="Calibri" charset="0"/>
                        <a:cs typeface="Calibri" charset="0"/>
                      </a:endParaRPr>
                    </a:p>
                  </a:txBody>
                  <a:tcPr marL="137160" marR="137160" marT="91440" marB="91440" anchor="ctr">
                    <a:lnL w="12700" cap="flat" cmpd="sng" algn="ctr">
                      <a:solidFill>
                        <a:srgbClr val="DDE1E6"/>
                      </a:solidFill>
                      <a:prstDash val="solid"/>
                      <a:round/>
                      <a:headEnd type="none" w="med" len="med"/>
                      <a:tailEnd type="none" w="med" len="med"/>
                    </a:lnL>
                    <a:lnR w="12700" cap="flat" cmpd="sng" algn="ctr">
                      <a:solidFill>
                        <a:srgbClr val="DDE1E6"/>
                      </a:solidFill>
                      <a:prstDash val="solid"/>
                      <a:round/>
                      <a:headEnd type="none" w="med" len="med"/>
                      <a:tailEnd type="none" w="med" len="med"/>
                    </a:lnR>
                    <a:lnT w="12700" cap="flat" cmpd="sng" algn="ctr">
                      <a:solidFill>
                        <a:srgbClr val="DDE1E6"/>
                      </a:solidFill>
                      <a:prstDash val="solid"/>
                      <a:round/>
                      <a:headEnd type="none" w="med" len="med"/>
                      <a:tailEnd type="none" w="med" len="med"/>
                    </a:lnT>
                    <a:lnB w="12700" cap="flat" cmpd="sng" algn="ctr">
                      <a:solidFill>
                        <a:srgbClr val="DDE1E6"/>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4A5568"/>
                          </a:solidFill>
                          <a:latin typeface="Calibri" pitchFamily="34" charset="0"/>
                          <a:ea typeface="Calibri" pitchFamily="34" charset="-122"/>
                          <a:cs typeface="Calibri" pitchFamily="34" charset="-120"/>
                        </a:rPr>
                        <a:t>Agents call each other over raw HTTP, no retries</a:t>
                      </a:r>
                      <a:endParaRPr lang="en-US" sz="1400" dirty="0">
                        <a:latin typeface="Calibri" charset="0"/>
                        <a:ea typeface="Calibri" charset="0"/>
                        <a:cs typeface="Calibri" charset="0"/>
                      </a:endParaRPr>
                    </a:p>
                  </a:txBody>
                  <a:tcPr marL="137160" marR="137160" marT="91440" marB="91440" anchor="ctr">
                    <a:lnL w="12700" cap="flat" cmpd="sng" algn="ctr">
                      <a:solidFill>
                        <a:srgbClr val="DDE1E6"/>
                      </a:solidFill>
                      <a:prstDash val="solid"/>
                      <a:round/>
                      <a:headEnd type="none" w="med" len="med"/>
                      <a:tailEnd type="none" w="med" len="med"/>
                    </a:lnL>
                    <a:lnR w="12700" cap="flat" cmpd="sng" algn="ctr">
                      <a:solidFill>
                        <a:srgbClr val="DDE1E6"/>
                      </a:solidFill>
                      <a:prstDash val="solid"/>
                      <a:round/>
                      <a:headEnd type="none" w="med" len="med"/>
                      <a:tailEnd type="none" w="med" len="med"/>
                    </a:lnR>
                    <a:lnT w="12700" cap="flat" cmpd="sng" algn="ctr">
                      <a:solidFill>
                        <a:srgbClr val="DDE1E6"/>
                      </a:solidFill>
                      <a:prstDash val="solid"/>
                      <a:round/>
                      <a:headEnd type="none" w="med" len="med"/>
                      <a:tailEnd type="none" w="med" len="med"/>
                    </a:lnT>
                    <a:lnB w="1270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b="1" dirty="0">
                          <a:solidFill>
                            <a:srgbClr val="16202E"/>
                          </a:solidFill>
                          <a:latin typeface="Calibri" pitchFamily="34" charset="0"/>
                          <a:ea typeface="Calibri" pitchFamily="34" charset="-122"/>
                          <a:cs typeface="Calibri" pitchFamily="34" charset="-120"/>
                        </a:rPr>
                        <a:t>Pub/sub + resiliency</a:t>
                      </a:r>
                      <a:pPr indent="0" marL="0">
                        <a:buNone/>
                      </a:pPr>
                      <a:r>
                        <a:rPr lang="en-US" sz="1400" dirty="0">
                          <a:solidFill>
                            <a:srgbClr val="4A5568"/>
                          </a:solidFill>
                          <a:latin typeface="Calibri" pitchFamily="34" charset="0"/>
                          <a:ea typeface="Calibri" pitchFamily="34" charset="-122"/>
                          <a:cs typeface="Calibri" pitchFamily="34" charset="-120"/>
                        </a:rPr>
                        <a:t>: queues, retries and timeouts from Dapr</a:t>
                      </a:r>
                      <a:endParaRPr lang="en-US" sz="1400" dirty="0">
                        <a:latin typeface="Calibri" charset="0"/>
                        <a:ea typeface="Calibri" charset="0"/>
                        <a:cs typeface="Calibri" charset="0"/>
                      </a:endParaRPr>
                    </a:p>
                  </a:txBody>
                  <a:tcPr marL="137160" marR="137160" marT="91440" marB="91440" anchor="ctr">
                    <a:lnL w="12700" cap="flat" cmpd="sng" algn="ctr">
                      <a:solidFill>
                        <a:srgbClr val="DDE1E6"/>
                      </a:solidFill>
                      <a:prstDash val="solid"/>
                      <a:round/>
                      <a:headEnd type="none" w="med" len="med"/>
                      <a:tailEnd type="none" w="med" len="med"/>
                    </a:lnL>
                    <a:lnR w="12700" cap="flat" cmpd="sng" algn="ctr">
                      <a:solidFill>
                        <a:srgbClr val="DDE1E6"/>
                      </a:solidFill>
                      <a:prstDash val="solid"/>
                      <a:round/>
                      <a:headEnd type="none" w="med" len="med"/>
                      <a:tailEnd type="none" w="med" len="med"/>
                    </a:lnR>
                    <a:lnT w="12700" cap="flat" cmpd="sng" algn="ctr">
                      <a:solidFill>
                        <a:srgbClr val="DDE1E6"/>
                      </a:solidFill>
                      <a:prstDash val="solid"/>
                      <a:round/>
                      <a:headEnd type="none" w="med" len="med"/>
                      <a:tailEnd type="none" w="med" len="med"/>
                    </a:lnT>
                    <a:lnB w="12700" cap="flat" cmpd="sng" algn="ctr">
                      <a:solidFill>
                        <a:srgbClr val="DDE1E6"/>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4A5568"/>
                          </a:solidFill>
                          <a:latin typeface="Calibri" pitchFamily="34" charset="0"/>
                          <a:ea typeface="Calibri" pitchFamily="34" charset="-122"/>
                          <a:cs typeface="Calibri" pitchFamily="34" charset="-120"/>
                        </a:rPr>
                        <a:t>Zero visibility into what the agent did</a:t>
                      </a:r>
                      <a:endParaRPr lang="en-US" sz="1400" dirty="0">
                        <a:latin typeface="Calibri" charset="0"/>
                        <a:ea typeface="Calibri" charset="0"/>
                        <a:cs typeface="Calibri" charset="0"/>
                      </a:endParaRPr>
                    </a:p>
                  </a:txBody>
                  <a:tcPr marL="137160" marR="137160" marT="91440" marB="91440" anchor="ctr">
                    <a:lnL w="12700" cap="flat" cmpd="sng" algn="ctr">
                      <a:solidFill>
                        <a:srgbClr val="DDE1E6"/>
                      </a:solidFill>
                      <a:prstDash val="solid"/>
                      <a:round/>
                      <a:headEnd type="none" w="med" len="med"/>
                      <a:tailEnd type="none" w="med" len="med"/>
                    </a:lnL>
                    <a:lnR w="12700" cap="flat" cmpd="sng" algn="ctr">
                      <a:solidFill>
                        <a:srgbClr val="DDE1E6"/>
                      </a:solidFill>
                      <a:prstDash val="solid"/>
                      <a:round/>
                      <a:headEnd type="none" w="med" len="med"/>
                      <a:tailEnd type="none" w="med" len="med"/>
                    </a:lnR>
                    <a:lnT w="12700" cap="flat" cmpd="sng" algn="ctr">
                      <a:solidFill>
                        <a:srgbClr val="DDE1E6"/>
                      </a:solidFill>
                      <a:prstDash val="solid"/>
                      <a:round/>
                      <a:headEnd type="none" w="med" len="med"/>
                      <a:tailEnd type="none" w="med" len="med"/>
                    </a:lnT>
                    <a:lnB w="1270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b="1" dirty="0">
                          <a:solidFill>
                            <a:srgbClr val="16202E"/>
                          </a:solidFill>
                          <a:latin typeface="Calibri" pitchFamily="34" charset="0"/>
                          <a:ea typeface="Calibri" pitchFamily="34" charset="-122"/>
                          <a:cs typeface="Calibri" pitchFamily="34" charset="-120"/>
                        </a:rPr>
                        <a:t>Tracing and metrics</a:t>
                      </a:r>
                      <a:pPr indent="0" marL="0">
                        <a:buNone/>
                      </a:pPr>
                      <a:r>
                        <a:rPr lang="en-US" sz="1400" dirty="0">
                          <a:solidFill>
                            <a:srgbClr val="4A5568"/>
                          </a:solidFill>
                          <a:latin typeface="Calibri" pitchFamily="34" charset="0"/>
                          <a:ea typeface="Calibri" pitchFamily="34" charset="-122"/>
                          <a:cs typeface="Calibri" pitchFamily="34" charset="-120"/>
                        </a:rPr>
                        <a:t> per step, for free, via OpenTelemetry</a:t>
                      </a:r>
                      <a:endParaRPr lang="en-US" sz="1400" dirty="0">
                        <a:latin typeface="Calibri" charset="0"/>
                        <a:ea typeface="Calibri" charset="0"/>
                        <a:cs typeface="Calibri" charset="0"/>
                      </a:endParaRPr>
                    </a:p>
                  </a:txBody>
                  <a:tcPr marL="137160" marR="137160" marT="91440" marB="91440" anchor="ctr">
                    <a:lnL w="12700" cap="flat" cmpd="sng" algn="ctr">
                      <a:solidFill>
                        <a:srgbClr val="DDE1E6"/>
                      </a:solidFill>
                      <a:prstDash val="solid"/>
                      <a:round/>
                      <a:headEnd type="none" w="med" len="med"/>
                      <a:tailEnd type="none" w="med" len="med"/>
                    </a:lnL>
                    <a:lnR w="12700" cap="flat" cmpd="sng" algn="ctr">
                      <a:solidFill>
                        <a:srgbClr val="DDE1E6"/>
                      </a:solidFill>
                      <a:prstDash val="solid"/>
                      <a:round/>
                      <a:headEnd type="none" w="med" len="med"/>
                      <a:tailEnd type="none" w="med" len="med"/>
                    </a:lnR>
                    <a:lnT w="12700" cap="flat" cmpd="sng" algn="ctr">
                      <a:solidFill>
                        <a:srgbClr val="DDE1E6"/>
                      </a:solidFill>
                      <a:prstDash val="solid"/>
                      <a:round/>
                      <a:headEnd type="none" w="med" len="med"/>
                      <a:tailEnd type="none" w="med" len="med"/>
                    </a:lnT>
                    <a:lnB w="12700" cap="flat" cmpd="sng" algn="ctr">
                      <a:solidFill>
                        <a:srgbClr val="DDE1E6"/>
                      </a:solidFill>
                      <a:prstDash val="solid"/>
                      <a:round/>
                      <a:headEnd type="none" w="med" len="med"/>
                      <a:tailEnd type="none" w="med" len="med"/>
                    </a:lnB>
                    <a:solidFill>
                      <a:srgbClr val="FFFFFF"/>
                    </a:solidFill>
                  </a:tcPr>
                </a:tc>
              </a:tr>
            </a:tbl>
          </a:graphicData>
        </a:graphic>
      </p:graphicFrame>
      <p:sp>
        <p:nvSpPr>
          <p:cNvPr id="5" name="Text 0"/>
          <p:cNvSpPr/>
          <p:nvPr>
            <p:ph idx="102" type="body" hasCustomPrompt="1"/>
          </p:nvPr>
        </p:nvSpPr>
        <p:spPr>
          <a:xfrm>
            <a:off x="548640" y="6263640"/>
            <a:ext cx="9601200" cy="320040"/>
          </a:xfrm>
          <a:prstGeom prst="rect">
            <a:avLst/>
          </a:prstGeom>
          <a:noFill/>
          <a:ln/>
        </p:spPr>
        <p:txBody>
          <a:bodyPr wrap="square" lIns="0" tIns="0" rIns="0" bIns="0" rtlCol="0"/>
          <a:lstStyle/>
          <a:p>
            <a:pPr indent="0" marL="0">
              <a:buNone/>
            </a:pPr>
            <a:r>
              <a:rPr lang="en-US" sz="1100" dirty="0">
                <a:solidFill>
                  <a:srgbClr val="6A7179"/>
                </a:solidFill>
              </a:rPr>
              <a:t>The pain is not the LLM. It’s everything around it.</a:t>
            </a:r>
            <a:endParaRPr lang="en-US" sz="1100" dirty="0"/>
          </a:p>
        </p:txBody>
      </p:sp>
      <p:sp>
        <p:nvSpPr>
          <p:cNvPr id="25" name="Slide Number Placeholder 0"/>
          <p:cNvSpPr>
            <a:spLocks noGrp="1"/>
          </p:cNvSpPr>
          <p:nvPr>
            <p:ph type="sldNum" sz="quarter" idx="4294967295"/>
          </p:nvPr>
        </p:nvSpPr>
        <p:spPr>
          <a:xfrm>
            <a:off x="11183112" y="6263640"/>
            <a:ext cx="4572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6A7179"/>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7315200" cy="320040"/>
          </a:xfrm>
          <a:prstGeom prst="rect">
            <a:avLst/>
          </a:prstGeom>
          <a:noFill/>
          <a:ln/>
        </p:spPr>
        <p:txBody>
          <a:bodyPr wrap="square" lIns="0" tIns="0" rIns="0" bIns="0" rtlCol="0"/>
          <a:lstStyle/>
          <a:p>
            <a:pPr indent="0" marL="0">
              <a:buNone/>
            </a:pPr>
            <a:r>
              <a:rPr lang="en-US" sz="1100" b="1" spc="200" kern="0" dirty="0">
                <a:solidFill>
                  <a:srgbClr val="1D5FD1"/>
                </a:solidFill>
              </a:rPr>
              <a:t>HOW IT WORKS</a:t>
            </a:r>
            <a:endParaRPr lang="en-US" sz="1100" dirty="0"/>
          </a:p>
        </p:txBody>
      </p:sp>
      <p:sp>
        <p:nvSpPr>
          <p:cNvPr id="3" name="Text 0"/>
          <p:cNvSpPr/>
          <p:nvPr>
            <p:ph idx="101" type="title" hasCustomPrompt="1"/>
          </p:nvPr>
        </p:nvSpPr>
        <p:spPr>
          <a:xfrm>
            <a:off x="548640" y="731520"/>
            <a:ext cx="11091672" cy="1143000"/>
          </a:xfrm>
          <a:prstGeom prst="rect">
            <a:avLst/>
          </a:prstGeom>
          <a:noFill/>
          <a:ln/>
        </p:spPr>
        <p:txBody>
          <a:bodyPr wrap="square" lIns="0" tIns="0" rIns="0" bIns="0" rtlCol="0" anchor="t"/>
          <a:lstStyle/>
          <a:p>
            <a:pPr algn="l" indent="0" marL="0">
              <a:buNone/>
            </a:pPr>
            <a:r>
              <a:rPr lang="en-US" sz="3000" b="1" dirty="0">
                <a:solidFill>
                  <a:srgbClr val="16202E"/>
                </a:solidFill>
              </a:rPr>
              <a:t>Your app talks to the sidecar. The sidecar talks to the world.</a:t>
            </a:r>
            <a:endParaRPr lang="en-US" sz="3000" dirty="0"/>
          </a:p>
        </p:txBody>
      </p:sp>
      <p:sp>
        <p:nvSpPr>
          <p:cNvPr id="4" name="your process"/>
          <p:cNvSpPr/>
          <p:nvPr/>
        </p:nvSpPr>
        <p:spPr>
          <a:xfrm>
            <a:off x="548640" y="2286000"/>
            <a:ext cx="3200400" cy="3291840"/>
          </a:xfrm>
          <a:prstGeom prst="roundRect">
            <a:avLst>
              <a:gd name="adj" fmla="val 3429"/>
            </a:avLst>
          </a:prstGeom>
          <a:solidFill>
            <a:srgbClr val="FFFFFF"/>
          </a:solidFill>
          <a:ln w="12700">
            <a:solidFill>
              <a:srgbClr val="1D5FD1"/>
            </a:solidFill>
            <a:prstDash val="solid"/>
          </a:ln>
        </p:spPr>
      </p:sp>
      <p:sp>
        <p:nvSpPr>
          <p:cNvPr id="5" name="your process border"/>
          <p:cNvSpPr/>
          <p:nvPr/>
        </p:nvSpPr>
        <p:spPr>
          <a:xfrm>
            <a:off x="548640" y="2286000"/>
            <a:ext cx="3200400" cy="3291840"/>
          </a:xfrm>
          <a:prstGeom prst="roundRect">
            <a:avLst>
              <a:gd name="adj" fmla="val 3429"/>
            </a:avLst>
          </a:prstGeom>
          <a:solidFill>
            <a:srgbClr val="FFFFFF">
              <a:alpha val="0"/>
            </a:srgbClr>
          </a:solidFill>
          <a:ln w="31750">
            <a:solidFill>
              <a:srgbClr val="1D5FD1"/>
            </a:solidFill>
            <a:prstDash val="solid"/>
          </a:ln>
        </p:spPr>
      </p:sp>
      <p:sp>
        <p:nvSpPr>
          <p:cNvPr id="6" name="lbl your process"/>
          <p:cNvSpPr txBox="1"/>
          <p:nvPr/>
        </p:nvSpPr>
        <p:spPr>
          <a:xfrm>
            <a:off x="822960" y="2560320"/>
            <a:ext cx="2743200" cy="274320"/>
          </a:xfrm>
          <a:prstGeom prst="rect">
            <a:avLst/>
          </a:prstGeom>
          <a:noFill/>
          <a:ln/>
        </p:spPr>
        <p:txBody>
          <a:bodyPr wrap="square" lIns="0" tIns="0" rIns="0" bIns="0" rtlCol="0" anchor="ctr"/>
          <a:lstStyle/>
          <a:p>
            <a:pPr indent="0" marL="0">
              <a:buNone/>
            </a:pPr>
            <a:r>
              <a:rPr lang="en-US" sz="1100" b="1" spc="200" kern="0" dirty="0">
                <a:solidFill>
                  <a:srgbClr val="1D5FD1"/>
                </a:solidFill>
              </a:rPr>
              <a:t>YOUR PROCESS</a:t>
            </a:r>
            <a:endParaRPr lang="en-US" sz="1100" dirty="0"/>
          </a:p>
        </p:txBody>
      </p:sp>
      <p:sp>
        <p:nvSpPr>
          <p:cNvPr id="7" name="h your process"/>
          <p:cNvSpPr txBox="1"/>
          <p:nvPr/>
        </p:nvSpPr>
        <p:spPr>
          <a:xfrm>
            <a:off x="822960" y="2926080"/>
            <a:ext cx="2743200" cy="457200"/>
          </a:xfrm>
          <a:prstGeom prst="rect">
            <a:avLst/>
          </a:prstGeom>
          <a:noFill/>
          <a:ln/>
        </p:spPr>
        <p:txBody>
          <a:bodyPr wrap="square" lIns="0" tIns="0" rIns="0" bIns="0" rtlCol="0" anchor="ctr"/>
          <a:lstStyle/>
          <a:p>
            <a:pPr indent="0" marL="0">
              <a:buNone/>
            </a:pPr>
            <a:r>
              <a:rPr lang="en-US" sz="2000" b="1" dirty="0">
                <a:solidFill>
                  <a:srgbClr val="16202E"/>
                </a:solidFill>
              </a:rPr>
              <a:t>DurableAgent</a:t>
            </a:r>
            <a:endParaRPr lang="en-US" sz="2000" dirty="0"/>
          </a:p>
        </p:txBody>
      </p:sp>
      <p:sp>
        <p:nvSpPr>
          <p:cNvPr id="8" name="body your process"/>
          <p:cNvSpPr txBox="1"/>
          <p:nvPr/>
        </p:nvSpPr>
        <p:spPr>
          <a:xfrm>
            <a:off x="822960" y="3474720"/>
            <a:ext cx="2743200" cy="1828800"/>
          </a:xfrm>
          <a:prstGeom prst="rect">
            <a:avLst/>
          </a:prstGeom>
          <a:noFill/>
          <a:ln/>
        </p:spPr>
        <p:txBody>
          <a:bodyPr wrap="square" lIns="0" tIns="0" rIns="0" bIns="0" rtlCol="0" anchor="t"/>
          <a:lstStyle/>
          <a:p>
            <a:pPr indent="0" marL="0">
              <a:lnSpc>
                <a:spcPct val="120000"/>
              </a:lnSpc>
              <a:buNone/>
            </a:pPr>
            <a:r>
              <a:rPr lang="en-US" sz="1500" dirty="0">
                <a:solidFill>
                  <a:srgbClr val="4A5568"/>
                </a:solidFill>
              </a:rPr>
              <a:t>instructions</a:t>
            </a:r>
            <a:endParaRPr lang="en-US" sz="1500" dirty="0"/>
          </a:p>
          <a:p>
            <a:pPr indent="0" marL="0">
              <a:lnSpc>
                <a:spcPct val="120000"/>
              </a:lnSpc>
              <a:buNone/>
            </a:pPr>
            <a:r>
              <a:rPr lang="en-US" sz="1500" dirty="0">
                <a:solidFill>
                  <a:srgbClr val="4A5568"/>
                </a:solidFill>
              </a:rPr>
              <a:t>tools (@tool)</a:t>
            </a:r>
            <a:endParaRPr lang="en-US" sz="1500" dirty="0"/>
          </a:p>
          <a:p>
            <a:pPr indent="0" marL="0">
              <a:lnSpc>
                <a:spcPct val="120000"/>
              </a:lnSpc>
              <a:buNone/>
            </a:pPr>
            <a:r>
              <a:rPr lang="en-US" sz="1500" dirty="0">
                <a:solidFill>
                  <a:srgbClr val="4A5568"/>
                </a:solidFill>
              </a:rPr>
              <a:t>DaprChatClient</a:t>
            </a:r>
            <a:endParaRPr lang="en-US" sz="1500" dirty="0"/>
          </a:p>
          <a:p>
            <a:pPr indent="0" marL="0">
              <a:lnSpc>
                <a:spcPct val="120000"/>
              </a:lnSpc>
              <a:buNone/>
            </a:pPr>
            <a:r>
              <a:rPr lang="en-US" sz="1500" dirty="0">
                <a:solidFill>
                  <a:srgbClr val="4A5568"/>
                </a:solidFill>
              </a:rPr>
              <a:t>memory + state</a:t>
            </a:r>
            <a:endParaRPr lang="en-US" sz="1500" dirty="0"/>
          </a:p>
        </p:txBody>
      </p:sp>
      <p:sp>
        <p:nvSpPr>
          <p:cNvPr id="9" name="sidecar"/>
          <p:cNvSpPr/>
          <p:nvPr/>
        </p:nvSpPr>
        <p:spPr>
          <a:xfrm>
            <a:off x="4572000" y="2286000"/>
            <a:ext cx="3200400" cy="3291840"/>
          </a:xfrm>
          <a:prstGeom prst="roundRect">
            <a:avLst>
              <a:gd name="adj" fmla="val 3429"/>
            </a:avLst>
          </a:prstGeom>
          <a:solidFill>
            <a:srgbClr val="0E1726"/>
          </a:solidFill>
          <a:ln w="12700">
            <a:solidFill>
              <a:srgbClr val="0E1726"/>
            </a:solidFill>
            <a:prstDash val="solid"/>
          </a:ln>
        </p:spPr>
      </p:sp>
      <p:sp>
        <p:nvSpPr>
          <p:cNvPr id="10" name="lbl sidecar"/>
          <p:cNvSpPr txBox="1"/>
          <p:nvPr/>
        </p:nvSpPr>
        <p:spPr>
          <a:xfrm>
            <a:off x="4846320" y="2560320"/>
            <a:ext cx="2743200" cy="274320"/>
          </a:xfrm>
          <a:prstGeom prst="rect">
            <a:avLst/>
          </a:prstGeom>
          <a:noFill/>
          <a:ln/>
        </p:spPr>
        <p:txBody>
          <a:bodyPr wrap="square" lIns="0" tIns="0" rIns="0" bIns="0" rtlCol="0" anchor="ctr"/>
          <a:lstStyle/>
          <a:p>
            <a:pPr indent="0" marL="0">
              <a:buNone/>
            </a:pPr>
            <a:r>
              <a:rPr lang="en-US" sz="1100" b="1" spc="200" kern="0" dirty="0">
                <a:solidFill>
                  <a:srgbClr val="5CA0FF"/>
                </a:solidFill>
              </a:rPr>
              <a:t>DAPR SIDECAR</a:t>
            </a:r>
            <a:endParaRPr lang="en-US" sz="1100" dirty="0"/>
          </a:p>
        </p:txBody>
      </p:sp>
      <p:sp>
        <p:nvSpPr>
          <p:cNvPr id="11" name="h sidecar"/>
          <p:cNvSpPr txBox="1"/>
          <p:nvPr/>
        </p:nvSpPr>
        <p:spPr>
          <a:xfrm>
            <a:off x="4846320" y="2926080"/>
            <a:ext cx="2743200" cy="457200"/>
          </a:xfrm>
          <a:prstGeom prst="rect">
            <a:avLst/>
          </a:prstGeom>
          <a:noFill/>
          <a:ln/>
        </p:spPr>
        <p:txBody>
          <a:bodyPr wrap="square" lIns="0" tIns="0" rIns="0" bIns="0" rtlCol="0" anchor="ctr"/>
          <a:lstStyle/>
          <a:p>
            <a:pPr indent="0" marL="0">
              <a:buNone/>
            </a:pPr>
            <a:r>
              <a:rPr lang="en-US" sz="2000" b="1" dirty="0">
                <a:solidFill>
                  <a:srgbClr val="F5F6F2"/>
                </a:solidFill>
              </a:rPr>
              <a:t>Building blocks</a:t>
            </a:r>
            <a:endParaRPr lang="en-US" sz="2000" dirty="0"/>
          </a:p>
        </p:txBody>
      </p:sp>
      <p:sp>
        <p:nvSpPr>
          <p:cNvPr id="12" name="body sidecar"/>
          <p:cNvSpPr txBox="1"/>
          <p:nvPr/>
        </p:nvSpPr>
        <p:spPr>
          <a:xfrm>
            <a:off x="4846320" y="3474720"/>
            <a:ext cx="2834640" cy="1828800"/>
          </a:xfrm>
          <a:prstGeom prst="rect">
            <a:avLst/>
          </a:prstGeom>
          <a:noFill/>
          <a:ln/>
        </p:spPr>
        <p:txBody>
          <a:bodyPr wrap="square" lIns="0" tIns="0" rIns="0" bIns="0" rtlCol="0" anchor="t"/>
          <a:lstStyle/>
          <a:p>
            <a:pPr indent="0" marL="0">
              <a:lnSpc>
                <a:spcPct val="120000"/>
              </a:lnSpc>
              <a:buNone/>
            </a:pPr>
            <a:r>
              <a:rPr lang="en-US" sz="1500" dirty="0">
                <a:solidFill>
                  <a:srgbClr val="B8C4D6"/>
                </a:solidFill>
              </a:rPr>
              <a:t>Workflow (durability)</a:t>
            </a:r>
            <a:endParaRPr lang="en-US" sz="1500" dirty="0"/>
          </a:p>
          <a:p>
            <a:pPr indent="0" marL="0">
              <a:lnSpc>
                <a:spcPct val="120000"/>
              </a:lnSpc>
              <a:buNone/>
            </a:pPr>
            <a:r>
              <a:rPr lang="en-US" sz="1500" dirty="0">
                <a:solidFill>
                  <a:srgbClr val="B8C4D6"/>
                </a:solidFill>
              </a:rPr>
              <a:t>State (memory)</a:t>
            </a:r>
            <a:endParaRPr lang="en-US" sz="1500" dirty="0"/>
          </a:p>
          <a:p>
            <a:pPr indent="0" marL="0">
              <a:lnSpc>
                <a:spcPct val="120000"/>
              </a:lnSpc>
              <a:buNone/>
            </a:pPr>
            <a:r>
              <a:rPr lang="en-US" sz="1500" dirty="0">
                <a:solidFill>
                  <a:srgbClr val="B8C4D6"/>
                </a:solidFill>
              </a:rPr>
              <a:t>Conversation (LLM)</a:t>
            </a:r>
            <a:endParaRPr lang="en-US" sz="1500" dirty="0"/>
          </a:p>
          <a:p>
            <a:pPr indent="0" marL="0">
              <a:lnSpc>
                <a:spcPct val="120000"/>
              </a:lnSpc>
              <a:buNone/>
            </a:pPr>
            <a:r>
              <a:rPr lang="en-US" sz="1500" dirty="0">
                <a:solidFill>
                  <a:srgbClr val="B8C4D6"/>
                </a:solidFill>
              </a:rPr>
              <a:t>Pub/sub, Secrets, Tracing</a:t>
            </a:r>
            <a:endParaRPr lang="en-US" sz="1500" dirty="0"/>
          </a:p>
        </p:txBody>
      </p:sp>
      <p:sp>
        <p:nvSpPr>
          <p:cNvPr id="13" name="backend LLM"/>
          <p:cNvSpPr/>
          <p:nvPr/>
        </p:nvSpPr>
        <p:spPr>
          <a:xfrm>
            <a:off x="8778240" y="2286000"/>
            <a:ext cx="2862072" cy="914400"/>
          </a:xfrm>
          <a:prstGeom prst="roundRect">
            <a:avLst>
              <a:gd name="adj" fmla="val 12000"/>
            </a:avLst>
          </a:prstGeom>
          <a:solidFill>
            <a:srgbClr val="FFFFFF"/>
          </a:solidFill>
          <a:ln w="12700">
            <a:solidFill>
              <a:srgbClr val="DDE1E6"/>
            </a:solidFill>
            <a:prstDash val="solid"/>
          </a:ln>
        </p:spPr>
      </p:sp>
      <p:sp>
        <p:nvSpPr>
          <p:cNvPr id="14" name="h LLM"/>
          <p:cNvSpPr txBox="1"/>
          <p:nvPr/>
        </p:nvSpPr>
        <p:spPr>
          <a:xfrm>
            <a:off x="9006840" y="2423160"/>
            <a:ext cx="2496312" cy="320040"/>
          </a:xfrm>
          <a:prstGeom prst="rect">
            <a:avLst/>
          </a:prstGeom>
          <a:noFill/>
          <a:ln/>
        </p:spPr>
        <p:txBody>
          <a:bodyPr wrap="square" lIns="0" tIns="0" rIns="0" bIns="0" rtlCol="0" anchor="ctr"/>
          <a:lstStyle/>
          <a:p>
            <a:pPr indent="0" marL="0">
              <a:buNone/>
            </a:pPr>
            <a:r>
              <a:rPr lang="en-US" sz="1600" b="1" dirty="0">
                <a:solidFill>
                  <a:srgbClr val="16202E"/>
                </a:solidFill>
              </a:rPr>
              <a:t>LLM</a:t>
            </a:r>
            <a:endParaRPr lang="en-US" sz="1600" dirty="0"/>
          </a:p>
        </p:txBody>
      </p:sp>
      <p:sp>
        <p:nvSpPr>
          <p:cNvPr id="15" name="body LLM"/>
          <p:cNvSpPr txBox="1"/>
          <p:nvPr/>
        </p:nvSpPr>
        <p:spPr>
          <a:xfrm>
            <a:off x="9006840" y="2761488"/>
            <a:ext cx="2496312" cy="320040"/>
          </a:xfrm>
          <a:prstGeom prst="rect">
            <a:avLst/>
          </a:prstGeom>
          <a:noFill/>
          <a:ln/>
        </p:spPr>
        <p:txBody>
          <a:bodyPr wrap="square" lIns="0" tIns="0" rIns="0" bIns="0" rtlCol="0" anchor="ctr"/>
          <a:lstStyle/>
          <a:p>
            <a:pPr indent="0" marL="0">
              <a:buNone/>
            </a:pPr>
            <a:r>
              <a:rPr lang="en-US" sz="1200" dirty="0">
                <a:solidFill>
                  <a:srgbClr val="4A5568"/>
                </a:solidFill>
              </a:rPr>
              <a:t>OpenAI, Anthropic, Ollama, Bedrock…</a:t>
            </a:r>
            <a:endParaRPr lang="en-US" sz="1200" dirty="0"/>
          </a:p>
        </p:txBody>
      </p:sp>
      <p:sp>
        <p:nvSpPr>
          <p:cNvPr id="16" name="backend State store"/>
          <p:cNvSpPr/>
          <p:nvPr/>
        </p:nvSpPr>
        <p:spPr>
          <a:xfrm>
            <a:off x="8778240" y="3474720"/>
            <a:ext cx="2862072" cy="914400"/>
          </a:xfrm>
          <a:prstGeom prst="roundRect">
            <a:avLst>
              <a:gd name="adj" fmla="val 12000"/>
            </a:avLst>
          </a:prstGeom>
          <a:solidFill>
            <a:srgbClr val="FFFFFF"/>
          </a:solidFill>
          <a:ln w="12700">
            <a:solidFill>
              <a:srgbClr val="DDE1E6"/>
            </a:solidFill>
            <a:prstDash val="solid"/>
          </a:ln>
        </p:spPr>
      </p:sp>
      <p:sp>
        <p:nvSpPr>
          <p:cNvPr id="17" name="h State store"/>
          <p:cNvSpPr txBox="1"/>
          <p:nvPr/>
        </p:nvSpPr>
        <p:spPr>
          <a:xfrm>
            <a:off x="9006840" y="3611880"/>
            <a:ext cx="2496312" cy="320040"/>
          </a:xfrm>
          <a:prstGeom prst="rect">
            <a:avLst/>
          </a:prstGeom>
          <a:noFill/>
          <a:ln/>
        </p:spPr>
        <p:txBody>
          <a:bodyPr wrap="square" lIns="0" tIns="0" rIns="0" bIns="0" rtlCol="0" anchor="ctr"/>
          <a:lstStyle/>
          <a:p>
            <a:pPr indent="0" marL="0">
              <a:buNone/>
            </a:pPr>
            <a:r>
              <a:rPr lang="en-US" sz="1600" b="1" dirty="0">
                <a:solidFill>
                  <a:srgbClr val="16202E"/>
                </a:solidFill>
              </a:rPr>
              <a:t>State store</a:t>
            </a:r>
            <a:endParaRPr lang="en-US" sz="1600" dirty="0"/>
          </a:p>
        </p:txBody>
      </p:sp>
      <p:sp>
        <p:nvSpPr>
          <p:cNvPr id="18" name="body State store"/>
          <p:cNvSpPr txBox="1"/>
          <p:nvPr/>
        </p:nvSpPr>
        <p:spPr>
          <a:xfrm>
            <a:off x="9006840" y="3950208"/>
            <a:ext cx="2496312" cy="320040"/>
          </a:xfrm>
          <a:prstGeom prst="rect">
            <a:avLst/>
          </a:prstGeom>
          <a:noFill/>
          <a:ln/>
        </p:spPr>
        <p:txBody>
          <a:bodyPr wrap="square" lIns="0" tIns="0" rIns="0" bIns="0" rtlCol="0" anchor="ctr"/>
          <a:lstStyle/>
          <a:p>
            <a:pPr indent="0" marL="0">
              <a:buNone/>
            </a:pPr>
            <a:r>
              <a:rPr lang="en-US" sz="1200" dirty="0">
                <a:solidFill>
                  <a:srgbClr val="4A5568"/>
                </a:solidFill>
              </a:rPr>
              <a:t>Redis, Postgres, Cosmos, DynamoDB…</a:t>
            </a:r>
            <a:endParaRPr lang="en-US" sz="1200" dirty="0"/>
          </a:p>
        </p:txBody>
      </p:sp>
      <p:sp>
        <p:nvSpPr>
          <p:cNvPr id="19" name="backend Message bus"/>
          <p:cNvSpPr/>
          <p:nvPr/>
        </p:nvSpPr>
        <p:spPr>
          <a:xfrm>
            <a:off x="8778240" y="4663440"/>
            <a:ext cx="2862072" cy="914400"/>
          </a:xfrm>
          <a:prstGeom prst="roundRect">
            <a:avLst>
              <a:gd name="adj" fmla="val 12000"/>
            </a:avLst>
          </a:prstGeom>
          <a:solidFill>
            <a:srgbClr val="FFFFFF"/>
          </a:solidFill>
          <a:ln w="12700">
            <a:solidFill>
              <a:srgbClr val="DDE1E6"/>
            </a:solidFill>
            <a:prstDash val="solid"/>
          </a:ln>
        </p:spPr>
      </p:sp>
      <p:sp>
        <p:nvSpPr>
          <p:cNvPr id="20" name="h Message bus"/>
          <p:cNvSpPr txBox="1"/>
          <p:nvPr/>
        </p:nvSpPr>
        <p:spPr>
          <a:xfrm>
            <a:off x="9006840" y="4800600"/>
            <a:ext cx="2496312" cy="320040"/>
          </a:xfrm>
          <a:prstGeom prst="rect">
            <a:avLst/>
          </a:prstGeom>
          <a:noFill/>
          <a:ln/>
        </p:spPr>
        <p:txBody>
          <a:bodyPr wrap="square" lIns="0" tIns="0" rIns="0" bIns="0" rtlCol="0" anchor="ctr"/>
          <a:lstStyle/>
          <a:p>
            <a:pPr indent="0" marL="0">
              <a:buNone/>
            </a:pPr>
            <a:r>
              <a:rPr lang="en-US" sz="1600" b="1" dirty="0">
                <a:solidFill>
                  <a:srgbClr val="16202E"/>
                </a:solidFill>
              </a:rPr>
              <a:t>Message bus</a:t>
            </a:r>
            <a:endParaRPr lang="en-US" sz="1600" dirty="0"/>
          </a:p>
        </p:txBody>
      </p:sp>
      <p:sp>
        <p:nvSpPr>
          <p:cNvPr id="21" name="body Message bus"/>
          <p:cNvSpPr txBox="1"/>
          <p:nvPr/>
        </p:nvSpPr>
        <p:spPr>
          <a:xfrm>
            <a:off x="9006840" y="5138928"/>
            <a:ext cx="2496312" cy="320040"/>
          </a:xfrm>
          <a:prstGeom prst="rect">
            <a:avLst/>
          </a:prstGeom>
          <a:noFill/>
          <a:ln/>
        </p:spPr>
        <p:txBody>
          <a:bodyPr wrap="square" lIns="0" tIns="0" rIns="0" bIns="0" rtlCol="0" anchor="ctr"/>
          <a:lstStyle/>
          <a:p>
            <a:pPr indent="0" marL="0">
              <a:buNone/>
            </a:pPr>
            <a:r>
              <a:rPr lang="en-US" sz="1200" dirty="0">
                <a:solidFill>
                  <a:srgbClr val="4A5568"/>
                </a:solidFill>
              </a:rPr>
              <a:t>Kafka, RabbitMQ, Redis, Service Bus…</a:t>
            </a:r>
            <a:endParaRPr lang="en-US" sz="1200" dirty="0"/>
          </a:p>
        </p:txBody>
      </p:sp>
      <p:sp>
        <p:nvSpPr>
          <p:cNvPr id="22" name="arrow app sidecar"/>
          <p:cNvSpPr/>
          <p:nvPr/>
        </p:nvSpPr>
        <p:spPr>
          <a:xfrm>
            <a:off x="3749040" y="3931920"/>
            <a:ext cx="822960" cy="0"/>
          </a:xfrm>
          <a:prstGeom prst="line">
            <a:avLst/>
          </a:prstGeom>
          <a:noFill/>
          <a:ln w="31750">
            <a:solidFill>
              <a:srgbClr val="1D5FD1"/>
            </a:solidFill>
            <a:prstDash val="solid"/>
            <a:headEnd type="triangle"/>
            <a:tailEnd type="triangle"/>
          </a:ln>
        </p:spPr>
      </p:sp>
      <p:sp>
        <p:nvSpPr>
          <p:cNvPr id="23" name="lbl http grpc"/>
          <p:cNvSpPr txBox="1"/>
          <p:nvPr/>
        </p:nvSpPr>
        <p:spPr>
          <a:xfrm>
            <a:off x="3749040" y="3474720"/>
            <a:ext cx="822960" cy="274320"/>
          </a:xfrm>
          <a:prstGeom prst="rect">
            <a:avLst/>
          </a:prstGeom>
          <a:noFill/>
          <a:ln/>
        </p:spPr>
        <p:txBody>
          <a:bodyPr wrap="square" lIns="0" tIns="0" rIns="0" bIns="0" rtlCol="0" anchor="ctr"/>
          <a:lstStyle/>
          <a:p>
            <a:pPr algn="ctr" indent="0" marL="0">
              <a:buNone/>
            </a:pPr>
            <a:r>
              <a:rPr lang="en-US" sz="1100" b="1" dirty="0">
                <a:solidFill>
                  <a:srgbClr val="1D5FD1"/>
                </a:solidFill>
              </a:rPr>
              <a:t>HTTP / gRPC</a:t>
            </a:r>
            <a:endParaRPr lang="en-US" sz="1100" dirty="0"/>
          </a:p>
        </p:txBody>
      </p:sp>
      <p:sp>
        <p:nvSpPr>
          <p:cNvPr id="24" name="arrow sidecar backend 0"/>
          <p:cNvSpPr/>
          <p:nvPr/>
        </p:nvSpPr>
        <p:spPr>
          <a:xfrm flipV="1">
            <a:off x="7772400" y="2743200"/>
            <a:ext cx="1005840" cy="1188720"/>
          </a:xfrm>
          <a:prstGeom prst="line">
            <a:avLst/>
          </a:prstGeom>
          <a:noFill/>
          <a:ln w="22225">
            <a:solidFill>
              <a:srgbClr val="6A7179"/>
            </a:solidFill>
            <a:prstDash val="solid"/>
            <a:tailEnd type="triangle"/>
          </a:ln>
        </p:spPr>
      </p:sp>
      <p:sp>
        <p:nvSpPr>
          <p:cNvPr id="25" name="arrow sidecar backend 1"/>
          <p:cNvSpPr/>
          <p:nvPr/>
        </p:nvSpPr>
        <p:spPr>
          <a:xfrm>
            <a:off x="7772400" y="3931920"/>
            <a:ext cx="1005840" cy="0"/>
          </a:xfrm>
          <a:prstGeom prst="line">
            <a:avLst/>
          </a:prstGeom>
          <a:noFill/>
          <a:ln w="22225">
            <a:solidFill>
              <a:srgbClr val="6A7179"/>
            </a:solidFill>
            <a:prstDash val="solid"/>
            <a:tailEnd type="triangle"/>
          </a:ln>
        </p:spPr>
      </p:sp>
      <p:sp>
        <p:nvSpPr>
          <p:cNvPr id="26" name="arrow sidecar backend 2"/>
          <p:cNvSpPr/>
          <p:nvPr/>
        </p:nvSpPr>
        <p:spPr>
          <a:xfrm>
            <a:off x="7772400" y="3931920"/>
            <a:ext cx="1005840" cy="1188720"/>
          </a:xfrm>
          <a:prstGeom prst="line">
            <a:avLst/>
          </a:prstGeom>
          <a:noFill/>
          <a:ln w="22225">
            <a:solidFill>
              <a:srgbClr val="6A7179"/>
            </a:solidFill>
            <a:prstDash val="solid"/>
            <a:tailEnd type="triangle"/>
          </a:ln>
        </p:spPr>
      </p:sp>
      <p:sp>
        <p:nvSpPr>
          <p:cNvPr id="27" name="Text 0"/>
          <p:cNvSpPr/>
          <p:nvPr>
            <p:ph idx="102" type="body" hasCustomPrompt="1"/>
          </p:nvPr>
        </p:nvSpPr>
        <p:spPr>
          <a:xfrm>
            <a:off x="548640" y="6263640"/>
            <a:ext cx="9601200" cy="320040"/>
          </a:xfrm>
          <a:prstGeom prst="rect">
            <a:avLst/>
          </a:prstGeom>
          <a:noFill/>
          <a:ln/>
        </p:spPr>
        <p:txBody>
          <a:bodyPr wrap="square" lIns="0" tIns="0" rIns="0" bIns="0" rtlCol="0"/>
          <a:lstStyle/>
          <a:p>
            <a:pPr indent="0" marL="0">
              <a:buNone/>
            </a:pPr>
            <a:r>
              <a:rPr lang="en-US" sz="1100" dirty="0">
                <a:solidFill>
                  <a:srgbClr val="6A7179"/>
                </a:solidFill>
              </a:rPr>
              <a:t>Every box on the right is a YAML component. Swapping one = editing the YAML.</a:t>
            </a:r>
            <a:endParaRPr lang="en-US" sz="1100" dirty="0"/>
          </a:p>
        </p:txBody>
      </p:sp>
      <p:sp>
        <p:nvSpPr>
          <p:cNvPr id="25" name="Slide Number Placeholder 0"/>
          <p:cNvSpPr>
            <a:spLocks noGrp="1"/>
          </p:cNvSpPr>
          <p:nvPr>
            <p:ph type="sldNum" sz="quarter" idx="4294967295"/>
          </p:nvPr>
        </p:nvSpPr>
        <p:spPr>
          <a:xfrm>
            <a:off x="11183112" y="6263640"/>
            <a:ext cx="4572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6A7179"/>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7315200" cy="320040"/>
          </a:xfrm>
          <a:prstGeom prst="rect">
            <a:avLst/>
          </a:prstGeom>
          <a:noFill/>
          <a:ln/>
        </p:spPr>
        <p:txBody>
          <a:bodyPr wrap="square" lIns="0" tIns="0" rIns="0" bIns="0" rtlCol="0"/>
          <a:lstStyle/>
          <a:p>
            <a:pPr indent="0" marL="0">
              <a:buNone/>
            </a:pPr>
            <a:r>
              <a:rPr lang="en-US" sz="1100" b="1" spc="200" kern="0" dirty="0">
                <a:solidFill>
                  <a:srgbClr val="1D5FD1"/>
                </a:solidFill>
              </a:rPr>
              <a:t>USE CASES</a:t>
            </a:r>
            <a:endParaRPr lang="en-US" sz="1100" dirty="0"/>
          </a:p>
        </p:txBody>
      </p:sp>
      <p:sp>
        <p:nvSpPr>
          <p:cNvPr id="3" name="Text 0"/>
          <p:cNvSpPr/>
          <p:nvPr>
            <p:ph idx="101" type="title" hasCustomPrompt="1"/>
          </p:nvPr>
        </p:nvSpPr>
        <p:spPr>
          <a:xfrm>
            <a:off x="548640" y="731520"/>
            <a:ext cx="11091672" cy="1143000"/>
          </a:xfrm>
          <a:prstGeom prst="rect">
            <a:avLst/>
          </a:prstGeom>
          <a:noFill/>
          <a:ln/>
        </p:spPr>
        <p:txBody>
          <a:bodyPr wrap="square" lIns="0" tIns="0" rIns="0" bIns="0" rtlCol="0" anchor="t"/>
          <a:lstStyle/>
          <a:p>
            <a:pPr algn="l" indent="0" marL="0">
              <a:buNone/>
            </a:pPr>
            <a:r>
              <a:rPr lang="en-US" sz="3000" b="1" dirty="0">
                <a:solidFill>
                  <a:srgbClr val="16202E"/>
                </a:solidFill>
              </a:rPr>
              <a:t>Where a durable agent pays for itself</a:t>
            </a:r>
            <a:endParaRPr lang="en-US" sz="3000" dirty="0"/>
          </a:p>
        </p:txBody>
      </p:sp>
      <p:sp>
        <p:nvSpPr>
          <p:cNvPr id="4" name="usecase 1"/>
          <p:cNvSpPr/>
          <p:nvPr/>
        </p:nvSpPr>
        <p:spPr>
          <a:xfrm>
            <a:off x="548640" y="2148840"/>
            <a:ext cx="5408676" cy="1783080"/>
          </a:xfrm>
          <a:prstGeom prst="roundRect">
            <a:avLst>
              <a:gd name="adj" fmla="val 6154"/>
            </a:avLst>
          </a:prstGeom>
          <a:solidFill>
            <a:srgbClr val="FFFFFF"/>
          </a:solidFill>
          <a:ln w="12700">
            <a:solidFill>
              <a:srgbClr val="DDE1E6"/>
            </a:solidFill>
            <a:prstDash val="solid"/>
          </a:ln>
        </p:spPr>
      </p:sp>
      <p:sp>
        <p:nvSpPr>
          <p:cNvPr id="5" name="badge 1"/>
          <p:cNvSpPr/>
          <p:nvPr/>
        </p:nvSpPr>
        <p:spPr>
          <a:xfrm>
            <a:off x="822960" y="2423160"/>
            <a:ext cx="457200" cy="457200"/>
          </a:xfrm>
          <a:prstGeom prst="ellipse">
            <a:avLst/>
          </a:prstGeom>
          <a:solidFill>
            <a:srgbClr val="1D5FD1"/>
          </a:solidFill>
          <a:ln w="12700">
            <a:solidFill>
              <a:srgbClr val="1D5FD1"/>
            </a:solidFill>
            <a:prstDash val="solid"/>
          </a:ln>
        </p:spPr>
      </p:sp>
      <p:sp>
        <p:nvSpPr>
          <p:cNvPr id="6" name="badge label 1"/>
          <p:cNvSpPr txBox="1"/>
          <p:nvPr/>
        </p:nvSpPr>
        <p:spPr>
          <a:xfrm>
            <a:off x="822960" y="2423160"/>
            <a:ext cx="457200" cy="457200"/>
          </a:xfrm>
          <a:prstGeom prst="rect">
            <a:avLst/>
          </a:prstGeom>
          <a:noFill/>
          <a:ln/>
        </p:spPr>
        <p:txBody>
          <a:bodyPr wrap="square" lIns="0" tIns="0" rIns="0" bIns="0" rtlCol="0" anchor="ctr"/>
          <a:lstStyle/>
          <a:p>
            <a:pPr algn="ctr" indent="0" marL="0">
              <a:buNone/>
            </a:pPr>
            <a:r>
              <a:rPr lang="en-US" sz="1300" b="1" dirty="0">
                <a:solidFill>
                  <a:srgbClr val="F5F6F2"/>
                </a:solidFill>
              </a:rPr>
              <a:t>1</a:t>
            </a:r>
            <a:endParaRPr lang="en-US" sz="1300" dirty="0"/>
          </a:p>
        </p:txBody>
      </p:sp>
      <p:sp>
        <p:nvSpPr>
          <p:cNvPr id="7" name="uc title 1"/>
          <p:cNvSpPr txBox="1"/>
          <p:nvPr/>
        </p:nvSpPr>
        <p:spPr>
          <a:xfrm>
            <a:off x="1463040" y="2423160"/>
            <a:ext cx="4219956" cy="457200"/>
          </a:xfrm>
          <a:prstGeom prst="rect">
            <a:avLst/>
          </a:prstGeom>
          <a:noFill/>
          <a:ln/>
        </p:spPr>
        <p:txBody>
          <a:bodyPr wrap="square" lIns="0" tIns="0" rIns="0" bIns="0" rtlCol="0" anchor="ctr"/>
          <a:lstStyle/>
          <a:p>
            <a:pPr indent="0" marL="0">
              <a:buNone/>
            </a:pPr>
            <a:r>
              <a:rPr lang="en-US" sz="1800" b="1" dirty="0">
                <a:solidFill>
                  <a:srgbClr val="16202E"/>
                </a:solidFill>
              </a:rPr>
              <a:t>Customer support with real actions</a:t>
            </a:r>
            <a:endParaRPr lang="en-US" sz="1800" dirty="0"/>
          </a:p>
        </p:txBody>
      </p:sp>
      <p:sp>
        <p:nvSpPr>
          <p:cNvPr id="8" name="uc body 1"/>
          <p:cNvSpPr txBox="1"/>
          <p:nvPr/>
        </p:nvSpPr>
        <p:spPr>
          <a:xfrm>
            <a:off x="1463040" y="2926080"/>
            <a:ext cx="4219956" cy="914400"/>
          </a:xfrm>
          <a:prstGeom prst="rect">
            <a:avLst/>
          </a:prstGeom>
          <a:noFill/>
          <a:ln/>
        </p:spPr>
        <p:txBody>
          <a:bodyPr wrap="square" lIns="0" tIns="0" rIns="0" bIns="0" rtlCol="0" anchor="t"/>
          <a:lstStyle/>
          <a:p>
            <a:pPr indent="0" marL="0">
              <a:buNone/>
            </a:pPr>
            <a:r>
              <a:rPr lang="en-US" sz="1400" dirty="0">
                <a:solidFill>
                  <a:srgbClr val="4A5568"/>
                </a:solidFill>
              </a:rPr>
              <a:t>Looks up the order, opens a ticket, issues a refund. Each action hits a slow external system; none may run twice. (Today’s demo.)</a:t>
            </a:r>
            <a:endParaRPr lang="en-US" sz="1400" dirty="0"/>
          </a:p>
        </p:txBody>
      </p:sp>
      <p:sp>
        <p:nvSpPr>
          <p:cNvPr id="9" name="usecase 2"/>
          <p:cNvSpPr/>
          <p:nvPr/>
        </p:nvSpPr>
        <p:spPr>
          <a:xfrm>
            <a:off x="6231636" y="2148840"/>
            <a:ext cx="5408676" cy="1783080"/>
          </a:xfrm>
          <a:prstGeom prst="roundRect">
            <a:avLst>
              <a:gd name="adj" fmla="val 6154"/>
            </a:avLst>
          </a:prstGeom>
          <a:solidFill>
            <a:srgbClr val="FFFFFF"/>
          </a:solidFill>
          <a:ln w="12700">
            <a:solidFill>
              <a:srgbClr val="DDE1E6"/>
            </a:solidFill>
            <a:prstDash val="solid"/>
          </a:ln>
        </p:spPr>
      </p:sp>
      <p:sp>
        <p:nvSpPr>
          <p:cNvPr id="10" name="badge 2"/>
          <p:cNvSpPr/>
          <p:nvPr/>
        </p:nvSpPr>
        <p:spPr>
          <a:xfrm>
            <a:off x="6505956" y="2423160"/>
            <a:ext cx="457200" cy="457200"/>
          </a:xfrm>
          <a:prstGeom prst="ellipse">
            <a:avLst/>
          </a:prstGeom>
          <a:solidFill>
            <a:srgbClr val="1D5FD1"/>
          </a:solidFill>
          <a:ln w="12700">
            <a:solidFill>
              <a:srgbClr val="1D5FD1"/>
            </a:solidFill>
            <a:prstDash val="solid"/>
          </a:ln>
        </p:spPr>
      </p:sp>
      <p:sp>
        <p:nvSpPr>
          <p:cNvPr id="11" name="badge label 2"/>
          <p:cNvSpPr txBox="1"/>
          <p:nvPr/>
        </p:nvSpPr>
        <p:spPr>
          <a:xfrm>
            <a:off x="6505956" y="2423160"/>
            <a:ext cx="457200" cy="457200"/>
          </a:xfrm>
          <a:prstGeom prst="rect">
            <a:avLst/>
          </a:prstGeom>
          <a:noFill/>
          <a:ln/>
        </p:spPr>
        <p:txBody>
          <a:bodyPr wrap="square" lIns="0" tIns="0" rIns="0" bIns="0" rtlCol="0" anchor="ctr"/>
          <a:lstStyle/>
          <a:p>
            <a:pPr algn="ctr" indent="0" marL="0">
              <a:buNone/>
            </a:pPr>
            <a:r>
              <a:rPr lang="en-US" sz="1300" b="1" dirty="0">
                <a:solidFill>
                  <a:srgbClr val="F5F6F2"/>
                </a:solidFill>
              </a:rPr>
              <a:t>2</a:t>
            </a:r>
            <a:endParaRPr lang="en-US" sz="1300" dirty="0"/>
          </a:p>
        </p:txBody>
      </p:sp>
      <p:sp>
        <p:nvSpPr>
          <p:cNvPr id="12" name="uc title 2"/>
          <p:cNvSpPr txBox="1"/>
          <p:nvPr/>
        </p:nvSpPr>
        <p:spPr>
          <a:xfrm>
            <a:off x="7146036" y="2423160"/>
            <a:ext cx="4219956" cy="457200"/>
          </a:xfrm>
          <a:prstGeom prst="rect">
            <a:avLst/>
          </a:prstGeom>
          <a:noFill/>
          <a:ln/>
        </p:spPr>
        <p:txBody>
          <a:bodyPr wrap="square" lIns="0" tIns="0" rIns="0" bIns="0" rtlCol="0" anchor="ctr"/>
          <a:lstStyle/>
          <a:p>
            <a:pPr indent="0" marL="0">
              <a:buNone/>
            </a:pPr>
            <a:r>
              <a:rPr lang="en-US" sz="1800" b="1" dirty="0">
                <a:solidFill>
                  <a:srgbClr val="16202E"/>
                </a:solidFill>
              </a:rPr>
              <a:t>Long-running back-office workflows</a:t>
            </a:r>
            <a:endParaRPr lang="en-US" sz="1800" dirty="0"/>
          </a:p>
        </p:txBody>
      </p:sp>
      <p:sp>
        <p:nvSpPr>
          <p:cNvPr id="13" name="uc body 2"/>
          <p:cNvSpPr txBox="1"/>
          <p:nvPr/>
        </p:nvSpPr>
        <p:spPr>
          <a:xfrm>
            <a:off x="7146036" y="2926080"/>
            <a:ext cx="4219956" cy="914400"/>
          </a:xfrm>
          <a:prstGeom prst="rect">
            <a:avLst/>
          </a:prstGeom>
          <a:noFill/>
          <a:ln/>
        </p:spPr>
        <p:txBody>
          <a:bodyPr wrap="square" lIns="0" tIns="0" rIns="0" bIns="0" rtlCol="0" anchor="t"/>
          <a:lstStyle/>
          <a:p>
            <a:pPr indent="0" marL="0">
              <a:buNone/>
            </a:pPr>
            <a:r>
              <a:rPr lang="en-US" sz="1400" dirty="0">
                <a:solidFill>
                  <a:srgbClr val="4A5568"/>
                </a:solidFill>
              </a:rPr>
              <a:t>Claims, onboarding, invoice approval: minutes to days, with a human in the loop. Workflow waits for the event without burning a pod.</a:t>
            </a:r>
            <a:endParaRPr lang="en-US" sz="1400" dirty="0"/>
          </a:p>
        </p:txBody>
      </p:sp>
      <p:sp>
        <p:nvSpPr>
          <p:cNvPr id="14" name="usecase 3"/>
          <p:cNvSpPr/>
          <p:nvPr/>
        </p:nvSpPr>
        <p:spPr>
          <a:xfrm>
            <a:off x="548640" y="4206240"/>
            <a:ext cx="5408676" cy="1783080"/>
          </a:xfrm>
          <a:prstGeom prst="roundRect">
            <a:avLst>
              <a:gd name="adj" fmla="val 6154"/>
            </a:avLst>
          </a:prstGeom>
          <a:solidFill>
            <a:srgbClr val="FFFFFF"/>
          </a:solidFill>
          <a:ln w="12700">
            <a:solidFill>
              <a:srgbClr val="DDE1E6"/>
            </a:solidFill>
            <a:prstDash val="solid"/>
          </a:ln>
        </p:spPr>
      </p:sp>
      <p:sp>
        <p:nvSpPr>
          <p:cNvPr id="15" name="badge 3"/>
          <p:cNvSpPr/>
          <p:nvPr/>
        </p:nvSpPr>
        <p:spPr>
          <a:xfrm>
            <a:off x="822960" y="4480560"/>
            <a:ext cx="457200" cy="457200"/>
          </a:xfrm>
          <a:prstGeom prst="ellipse">
            <a:avLst/>
          </a:prstGeom>
          <a:solidFill>
            <a:srgbClr val="1D5FD1"/>
          </a:solidFill>
          <a:ln w="12700">
            <a:solidFill>
              <a:srgbClr val="1D5FD1"/>
            </a:solidFill>
            <a:prstDash val="solid"/>
          </a:ln>
        </p:spPr>
      </p:sp>
      <p:sp>
        <p:nvSpPr>
          <p:cNvPr id="16" name="badge label 3"/>
          <p:cNvSpPr txBox="1"/>
          <p:nvPr/>
        </p:nvSpPr>
        <p:spPr>
          <a:xfrm>
            <a:off x="822960" y="4480560"/>
            <a:ext cx="457200" cy="457200"/>
          </a:xfrm>
          <a:prstGeom prst="rect">
            <a:avLst/>
          </a:prstGeom>
          <a:noFill/>
          <a:ln/>
        </p:spPr>
        <p:txBody>
          <a:bodyPr wrap="square" lIns="0" tIns="0" rIns="0" bIns="0" rtlCol="0" anchor="ctr"/>
          <a:lstStyle/>
          <a:p>
            <a:pPr algn="ctr" indent="0" marL="0">
              <a:buNone/>
            </a:pPr>
            <a:r>
              <a:rPr lang="en-US" sz="1300" b="1" dirty="0">
                <a:solidFill>
                  <a:srgbClr val="F5F6F2"/>
                </a:solidFill>
              </a:rPr>
              <a:t>3</a:t>
            </a:r>
            <a:endParaRPr lang="en-US" sz="1300" dirty="0"/>
          </a:p>
        </p:txBody>
      </p:sp>
      <p:sp>
        <p:nvSpPr>
          <p:cNvPr id="17" name="uc title 3"/>
          <p:cNvSpPr txBox="1"/>
          <p:nvPr/>
        </p:nvSpPr>
        <p:spPr>
          <a:xfrm>
            <a:off x="1463040" y="4480560"/>
            <a:ext cx="4219956" cy="457200"/>
          </a:xfrm>
          <a:prstGeom prst="rect">
            <a:avLst/>
          </a:prstGeom>
          <a:noFill/>
          <a:ln/>
        </p:spPr>
        <p:txBody>
          <a:bodyPr wrap="square" lIns="0" tIns="0" rIns="0" bIns="0" rtlCol="0" anchor="ctr"/>
          <a:lstStyle/>
          <a:p>
            <a:pPr indent="0" marL="0">
              <a:buNone/>
            </a:pPr>
            <a:r>
              <a:rPr lang="en-US" sz="1800" b="1" dirty="0">
                <a:solidFill>
                  <a:srgbClr val="16202E"/>
                </a:solidFill>
              </a:rPr>
              <a:t>Multi-agent pipelines</a:t>
            </a:r>
            <a:endParaRPr lang="en-US" sz="1800" dirty="0"/>
          </a:p>
        </p:txBody>
      </p:sp>
      <p:sp>
        <p:nvSpPr>
          <p:cNvPr id="18" name="uc body 3"/>
          <p:cNvSpPr txBox="1"/>
          <p:nvPr/>
        </p:nvSpPr>
        <p:spPr>
          <a:xfrm>
            <a:off x="1463040" y="4983480"/>
            <a:ext cx="4219956" cy="914400"/>
          </a:xfrm>
          <a:prstGeom prst="rect">
            <a:avLst/>
          </a:prstGeom>
          <a:noFill/>
          <a:ln/>
        </p:spPr>
        <p:txBody>
          <a:bodyPr wrap="square" lIns="0" tIns="0" rIns="0" bIns="0" rtlCol="0" anchor="t"/>
          <a:lstStyle/>
          <a:p>
            <a:pPr indent="0" marL="0">
              <a:buNone/>
            </a:pPr>
            <a:r>
              <a:rPr lang="en-US" sz="1400" dirty="0">
                <a:solidFill>
                  <a:srgbClr val="4A5568"/>
                </a:solidFill>
              </a:rPr>
              <a:t>Triage agent routes to expert agents over pub/sub. Each one scales, retries and is traced on its own.</a:t>
            </a:r>
            <a:endParaRPr lang="en-US" sz="1400" dirty="0"/>
          </a:p>
        </p:txBody>
      </p:sp>
      <p:sp>
        <p:nvSpPr>
          <p:cNvPr id="19" name="usecase 4"/>
          <p:cNvSpPr/>
          <p:nvPr/>
        </p:nvSpPr>
        <p:spPr>
          <a:xfrm>
            <a:off x="6231636" y="4206240"/>
            <a:ext cx="5408676" cy="1783080"/>
          </a:xfrm>
          <a:prstGeom prst="roundRect">
            <a:avLst>
              <a:gd name="adj" fmla="val 6154"/>
            </a:avLst>
          </a:prstGeom>
          <a:solidFill>
            <a:srgbClr val="FFFFFF"/>
          </a:solidFill>
          <a:ln w="12700">
            <a:solidFill>
              <a:srgbClr val="DDE1E6"/>
            </a:solidFill>
            <a:prstDash val="solid"/>
          </a:ln>
        </p:spPr>
      </p:sp>
      <p:sp>
        <p:nvSpPr>
          <p:cNvPr id="20" name="badge 4"/>
          <p:cNvSpPr/>
          <p:nvPr/>
        </p:nvSpPr>
        <p:spPr>
          <a:xfrm>
            <a:off x="6505956" y="4480560"/>
            <a:ext cx="457200" cy="457200"/>
          </a:xfrm>
          <a:prstGeom prst="ellipse">
            <a:avLst/>
          </a:prstGeom>
          <a:solidFill>
            <a:srgbClr val="1D5FD1"/>
          </a:solidFill>
          <a:ln w="12700">
            <a:solidFill>
              <a:srgbClr val="1D5FD1"/>
            </a:solidFill>
            <a:prstDash val="solid"/>
          </a:ln>
        </p:spPr>
      </p:sp>
      <p:sp>
        <p:nvSpPr>
          <p:cNvPr id="21" name="badge label 4"/>
          <p:cNvSpPr txBox="1"/>
          <p:nvPr/>
        </p:nvSpPr>
        <p:spPr>
          <a:xfrm>
            <a:off x="6505956" y="4480560"/>
            <a:ext cx="457200" cy="457200"/>
          </a:xfrm>
          <a:prstGeom prst="rect">
            <a:avLst/>
          </a:prstGeom>
          <a:noFill/>
          <a:ln/>
        </p:spPr>
        <p:txBody>
          <a:bodyPr wrap="square" lIns="0" tIns="0" rIns="0" bIns="0" rtlCol="0" anchor="ctr"/>
          <a:lstStyle/>
          <a:p>
            <a:pPr algn="ctr" indent="0" marL="0">
              <a:buNone/>
            </a:pPr>
            <a:r>
              <a:rPr lang="en-US" sz="1300" b="1" dirty="0">
                <a:solidFill>
                  <a:srgbClr val="F5F6F2"/>
                </a:solidFill>
              </a:rPr>
              <a:t>4</a:t>
            </a:r>
            <a:endParaRPr lang="en-US" sz="1300" dirty="0"/>
          </a:p>
        </p:txBody>
      </p:sp>
      <p:sp>
        <p:nvSpPr>
          <p:cNvPr id="22" name="uc title 4"/>
          <p:cNvSpPr txBox="1"/>
          <p:nvPr/>
        </p:nvSpPr>
        <p:spPr>
          <a:xfrm>
            <a:off x="7146036" y="4480560"/>
            <a:ext cx="4219956" cy="457200"/>
          </a:xfrm>
          <a:prstGeom prst="rect">
            <a:avLst/>
          </a:prstGeom>
          <a:noFill/>
          <a:ln/>
        </p:spPr>
        <p:txBody>
          <a:bodyPr wrap="square" lIns="0" tIns="0" rIns="0" bIns="0" rtlCol="0" anchor="ctr"/>
          <a:lstStyle/>
          <a:p>
            <a:pPr indent="0" marL="0">
              <a:buNone/>
            </a:pPr>
            <a:r>
              <a:rPr lang="en-US" sz="1800" b="1" dirty="0">
                <a:solidFill>
                  <a:srgbClr val="16202E"/>
                </a:solidFill>
              </a:rPr>
              <a:t>Event-driven automation</a:t>
            </a:r>
            <a:endParaRPr lang="en-US" sz="1800" dirty="0"/>
          </a:p>
        </p:txBody>
      </p:sp>
      <p:sp>
        <p:nvSpPr>
          <p:cNvPr id="23" name="uc body 4"/>
          <p:cNvSpPr txBox="1"/>
          <p:nvPr/>
        </p:nvSpPr>
        <p:spPr>
          <a:xfrm>
            <a:off x="7146036" y="4983480"/>
            <a:ext cx="4219956" cy="914400"/>
          </a:xfrm>
          <a:prstGeom prst="rect">
            <a:avLst/>
          </a:prstGeom>
          <a:noFill/>
          <a:ln/>
        </p:spPr>
        <p:txBody>
          <a:bodyPr wrap="square" lIns="0" tIns="0" rIns="0" bIns="0" rtlCol="0" anchor="t"/>
          <a:lstStyle/>
          <a:p>
            <a:pPr indent="0" marL="0">
              <a:buNone/>
            </a:pPr>
            <a:r>
              <a:rPr lang="en-US" sz="1400" dirty="0">
                <a:solidFill>
                  <a:srgbClr val="4A5568"/>
                </a:solidFill>
              </a:rPr>
              <a:t>An agent subscribed to a Kafka topic: new alert, new PR, new lead. Reacts, calls tools, publishes the result.</a:t>
            </a:r>
            <a:endParaRPr lang="en-US" sz="1400" dirty="0"/>
          </a:p>
        </p:txBody>
      </p:sp>
      <p:sp>
        <p:nvSpPr>
          <p:cNvPr id="24" name="Text 0"/>
          <p:cNvSpPr/>
          <p:nvPr>
            <p:ph idx="102" type="body" hasCustomPrompt="1"/>
          </p:nvPr>
        </p:nvSpPr>
        <p:spPr>
          <a:xfrm>
            <a:off x="548640" y="6263640"/>
            <a:ext cx="9601200" cy="320040"/>
          </a:xfrm>
          <a:prstGeom prst="rect">
            <a:avLst/>
          </a:prstGeom>
          <a:noFill/>
          <a:ln/>
        </p:spPr>
        <p:txBody>
          <a:bodyPr wrap="square" lIns="0" tIns="0" rIns="0" bIns="0" rtlCol="0"/>
          <a:lstStyle/>
          <a:p>
            <a:pPr indent="0" marL="0">
              <a:buNone/>
            </a:pPr>
            <a:r>
              <a:rPr lang="en-US" sz="1100" dirty="0">
                <a:solidFill>
                  <a:srgbClr val="6A7179"/>
                </a:solidFill>
              </a:rPr>
              <a:t>Common thread: slow steps, side effects, and a process that can die in between.</a:t>
            </a:r>
            <a:endParaRPr lang="en-US" sz="1100" dirty="0"/>
          </a:p>
        </p:txBody>
      </p:sp>
      <p:sp>
        <p:nvSpPr>
          <p:cNvPr id="25" name="Slide Number Placeholder 0"/>
          <p:cNvSpPr>
            <a:spLocks noGrp="1"/>
          </p:cNvSpPr>
          <p:nvPr>
            <p:ph type="sldNum" sz="quarter" idx="4294967295"/>
          </p:nvPr>
        </p:nvSpPr>
        <p:spPr>
          <a:xfrm>
            <a:off x="11183112" y="6263640"/>
            <a:ext cx="4572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6A7179"/>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7315200" cy="320040"/>
          </a:xfrm>
          <a:prstGeom prst="rect">
            <a:avLst/>
          </a:prstGeom>
          <a:noFill/>
          <a:ln/>
        </p:spPr>
        <p:txBody>
          <a:bodyPr wrap="square" lIns="0" tIns="0" rIns="0" bIns="0" rtlCol="0"/>
          <a:lstStyle/>
          <a:p>
            <a:pPr indent="0" marL="0">
              <a:buNone/>
            </a:pPr>
            <a:r>
              <a:rPr lang="en-US" sz="1100" b="1" spc="200" kern="0" dirty="0">
                <a:solidFill>
                  <a:srgbClr val="1D5FD1"/>
                </a:solidFill>
              </a:rPr>
              <a:t>DEMO · THE CODE</a:t>
            </a:r>
            <a:endParaRPr lang="en-US" sz="1100" dirty="0"/>
          </a:p>
        </p:txBody>
      </p:sp>
      <p:sp>
        <p:nvSpPr>
          <p:cNvPr id="3" name="Text 0"/>
          <p:cNvSpPr/>
          <p:nvPr>
            <p:ph idx="101" type="title" hasCustomPrompt="1"/>
          </p:nvPr>
        </p:nvSpPr>
        <p:spPr>
          <a:xfrm>
            <a:off x="548640" y="731520"/>
            <a:ext cx="11091672" cy="1143000"/>
          </a:xfrm>
          <a:prstGeom prst="rect">
            <a:avLst/>
          </a:prstGeom>
          <a:noFill/>
          <a:ln/>
        </p:spPr>
        <p:txBody>
          <a:bodyPr wrap="square" lIns="0" tIns="0" rIns="0" bIns="0" rtlCol="0" anchor="t"/>
          <a:lstStyle/>
          <a:p>
            <a:pPr algn="l" indent="0" marL="0">
              <a:buNone/>
            </a:pPr>
            <a:r>
              <a:rPr lang="en-US" sz="3000" b="1" dirty="0">
                <a:solidFill>
                  <a:srgbClr val="16202E"/>
                </a:solidFill>
              </a:rPr>
              <a:t>One tool, one agent, one runner</a:t>
            </a:r>
            <a:endParaRPr lang="en-US" sz="3000" dirty="0"/>
          </a:p>
        </p:txBody>
      </p:sp>
      <p:sp>
        <p:nvSpPr>
          <p:cNvPr id="4" name="code box"/>
          <p:cNvSpPr/>
          <p:nvPr/>
        </p:nvSpPr>
        <p:spPr>
          <a:xfrm>
            <a:off x="548640" y="1920240"/>
            <a:ext cx="7223760" cy="4160520"/>
          </a:xfrm>
          <a:prstGeom prst="roundRect">
            <a:avLst>
              <a:gd name="adj" fmla="val 2637"/>
            </a:avLst>
          </a:prstGeom>
          <a:solidFill>
            <a:srgbClr val="0E1726"/>
          </a:solidFill>
          <a:ln w="12700">
            <a:solidFill>
              <a:srgbClr val="0E1726"/>
            </a:solidFill>
            <a:prstDash val="solid"/>
          </a:ln>
        </p:spPr>
      </p:sp>
      <p:sp>
        <p:nvSpPr>
          <p:cNvPr id="5" name="code"/>
          <p:cNvSpPr txBox="1"/>
          <p:nvPr/>
        </p:nvSpPr>
        <p:spPr>
          <a:xfrm>
            <a:off x="822960" y="2148840"/>
            <a:ext cx="6766560" cy="3703320"/>
          </a:xfrm>
          <a:prstGeom prst="rect">
            <a:avLst/>
          </a:prstGeom>
          <a:noFill/>
          <a:ln/>
        </p:spPr>
        <p:txBody>
          <a:bodyPr wrap="square" lIns="0" tIns="0" rIns="0" bIns="0" rtlCol="0" anchor="t"/>
          <a:lstStyle/>
          <a:p>
            <a:pPr indent="0" marL="0">
              <a:lnSpc>
                <a:spcPct val="115000"/>
              </a:lnSpc>
              <a:buNone/>
            </a:pPr>
            <a:r>
              <a:rPr lang="en-US" sz="1150" dirty="0">
                <a:solidFill>
                  <a:srgbClr val="8A98AD"/>
                </a:solidFill>
                <a:latin typeface="Courier New" pitchFamily="34" charset="0"/>
                <a:ea typeface="Courier New" pitchFamily="34" charset="-122"/>
                <a:cs typeface="Courier New" pitchFamily="34" charset="-120"/>
              </a:rPr>
              <a:t>@tool</a:t>
            </a:r>
            <a:endParaRPr lang="en-US" sz="1150" dirty="0"/>
          </a:p>
          <a:p>
            <a:pPr indent="0" marL="0">
              <a:lnSpc>
                <a:spcPct val="115000"/>
              </a:lnSpc>
              <a:buNone/>
            </a:pPr>
            <a:r>
              <a:rPr lang="en-US" sz="1150" dirty="0">
                <a:solidFill>
                  <a:srgbClr val="5CA0FF"/>
                </a:solidFill>
                <a:latin typeface="Courier New" pitchFamily="34" charset="0"/>
                <a:ea typeface="Courier New" pitchFamily="34" charset="-122"/>
                <a:cs typeface="Courier New" pitchFamily="34" charset="-120"/>
              </a:rPr>
              <a:t>async def </a:t>
            </a:r>
            <a:pPr indent="0" marL="0">
              <a:lnSpc>
                <a:spcPct val="115000"/>
              </a:lnSpc>
              <a:buNone/>
            </a:pPr>
            <a:r>
              <a:rPr lang="en-US" sz="1150" dirty="0">
                <a:solidFill>
                  <a:srgbClr val="E6EAF0"/>
                </a:solidFill>
                <a:latin typeface="Courier New" pitchFamily="34" charset="0"/>
                <a:ea typeface="Courier New" pitchFamily="34" charset="-122"/>
                <a:cs typeface="Courier New" pitchFamily="34" charset="-120"/>
              </a:rPr>
              <a:t>get_order(order_id: str) -&gt; str:</a:t>
            </a:r>
            <a:endParaRPr lang="en-US" sz="1150" dirty="0"/>
          </a:p>
          <a:p>
            <a:pPr indent="0" marL="0">
              <a:lnSpc>
                <a:spcPct val="115000"/>
              </a:lnSpc>
              <a:buNone/>
            </a:pPr>
            <a:r>
              <a:rPr lang="en-US" sz="1150" dirty="0">
                <a:solidFill>
                  <a:srgbClr val="E6EAF0"/>
                </a:solidFill>
                <a:latin typeface="Courier New" pitchFamily="34" charset="0"/>
                <a:ea typeface="Courier New" pitchFamily="34" charset="-122"/>
                <a:cs typeface="Courier New" pitchFamily="34" charset="-120"/>
              </a:rPr>
              <a:t>    </a:t>
            </a:r>
            <a:pPr indent="0" marL="0">
              <a:lnSpc>
                <a:spcPct val="115000"/>
              </a:lnSpc>
              <a:buNone/>
            </a:pPr>
            <a:r>
              <a:rPr lang="en-US" sz="1150" dirty="0">
                <a:solidFill>
                  <a:srgbClr val="9CCB7A"/>
                </a:solidFill>
                <a:latin typeface="Courier New" pitchFamily="34" charset="0"/>
                <a:ea typeface="Courier New" pitchFamily="34" charset="-122"/>
                <a:cs typeface="Courier New" pitchFamily="34" charset="-120"/>
              </a:rPr>
              <a:t>"""Look up status and ETA of an order."""</a:t>
            </a:r>
            <a:endParaRPr lang="en-US" sz="1150" dirty="0"/>
          </a:p>
          <a:p>
            <a:pPr indent="0" marL="0">
              <a:lnSpc>
                <a:spcPct val="115000"/>
              </a:lnSpc>
              <a:buNone/>
            </a:pPr>
            <a:r>
              <a:rPr lang="en-US" sz="1150" dirty="0">
                <a:solidFill>
                  <a:srgbClr val="E6EAF0"/>
                </a:solidFill>
                <a:latin typeface="Courier New" pitchFamily="34" charset="0"/>
                <a:ea typeface="Courier New" pitchFamily="34" charset="-122"/>
                <a:cs typeface="Courier New" pitchFamily="34" charset="-120"/>
              </a:rPr>
              <a:t>    </a:t>
            </a:r>
            <a:pPr indent="0" marL="0">
              <a:lnSpc>
                <a:spcPct val="115000"/>
              </a:lnSpc>
              <a:buNone/>
            </a:pPr>
            <a:r>
              <a:rPr lang="en-US" sz="1150" dirty="0">
                <a:solidFill>
                  <a:srgbClr val="5CA0FF"/>
                </a:solidFill>
                <a:latin typeface="Courier New" pitchFamily="34" charset="0"/>
                <a:ea typeface="Courier New" pitchFamily="34" charset="-122"/>
                <a:cs typeface="Courier New" pitchFamily="34" charset="-120"/>
              </a:rPr>
              <a:t>return </a:t>
            </a:r>
            <a:pPr indent="0" marL="0">
              <a:lnSpc>
                <a:spcPct val="115000"/>
              </a:lnSpc>
              <a:buNone/>
            </a:pPr>
            <a:r>
              <a:rPr lang="en-US" sz="1150" dirty="0">
                <a:solidFill>
                  <a:srgbClr val="E6EAF0"/>
                </a:solidFill>
                <a:latin typeface="Courier New" pitchFamily="34" charset="0"/>
                <a:ea typeface="Courier New" pitchFamily="34" charset="-122"/>
                <a:cs typeface="Courier New" pitchFamily="34" charset="-120"/>
              </a:rPr>
              <a:t>ORDERS.get(order_id, </a:t>
            </a:r>
            <a:pPr indent="0" marL="0">
              <a:lnSpc>
                <a:spcPct val="115000"/>
              </a:lnSpc>
              <a:buNone/>
            </a:pPr>
            <a:r>
              <a:rPr lang="en-US" sz="1150" dirty="0">
                <a:solidFill>
                  <a:srgbClr val="9CCB7A"/>
                </a:solidFill>
                <a:latin typeface="Courier New" pitchFamily="34" charset="0"/>
                <a:ea typeface="Courier New" pitchFamily="34" charset="-122"/>
                <a:cs typeface="Courier New" pitchFamily="34" charset="-120"/>
              </a:rPr>
              <a:t>"not found"</a:t>
            </a:r>
            <a:pPr indent="0" marL="0">
              <a:lnSpc>
                <a:spcPct val="115000"/>
              </a:lnSpc>
              <a:buNone/>
            </a:pPr>
            <a:r>
              <a:rPr lang="en-US" sz="1150" dirty="0">
                <a:solidFill>
                  <a:srgbClr val="E6EAF0"/>
                </a:solidFill>
                <a:latin typeface="Courier New" pitchFamily="34" charset="0"/>
                <a:ea typeface="Courier New" pitchFamily="34" charset="-122"/>
                <a:cs typeface="Courier New" pitchFamily="34" charset="-120"/>
              </a:rPr>
              <a:t>)</a:t>
            </a:r>
            <a:endParaRPr lang="en-US" sz="1150" dirty="0"/>
          </a:p>
          <a:p>
            <a:pPr indent="0" marL="0">
              <a:lnSpc>
                <a:spcPct val="115000"/>
              </a:lnSpc>
              <a:buNone/>
            </a:pPr>
            <a:r>
              <a:rPr lang="en-US" sz="1150" dirty="0">
                <a:solidFill>
                  <a:srgbClr val="E6EAF0"/>
                </a:solidFill>
                <a:latin typeface="Courier New" pitchFamily="34" charset="0"/>
                <a:ea typeface="Courier New" pitchFamily="34" charset="-122"/>
                <a:cs typeface="Courier New" pitchFamily="34" charset="-120"/>
              </a:rPr>
              <a:t> </a:t>
            </a:r>
            <a:endParaRPr lang="en-US" sz="1150" dirty="0"/>
          </a:p>
          <a:p>
            <a:pPr indent="0" marL="0">
              <a:lnSpc>
                <a:spcPct val="115000"/>
              </a:lnSpc>
              <a:buNone/>
            </a:pPr>
            <a:r>
              <a:rPr lang="en-US" sz="1150" dirty="0">
                <a:solidFill>
                  <a:srgbClr val="E6EAF0"/>
                </a:solidFill>
                <a:latin typeface="Courier New" pitchFamily="34" charset="0"/>
                <a:ea typeface="Courier New" pitchFamily="34" charset="-122"/>
                <a:cs typeface="Courier New" pitchFamily="34" charset="-120"/>
              </a:rPr>
              <a:t>agent = DurableAgent(</a:t>
            </a:r>
            <a:endParaRPr lang="en-US" sz="1150" dirty="0"/>
          </a:p>
          <a:p>
            <a:pPr indent="0" marL="0">
              <a:lnSpc>
                <a:spcPct val="115000"/>
              </a:lnSpc>
              <a:buNone/>
            </a:pPr>
            <a:r>
              <a:rPr lang="en-US" sz="1150" dirty="0">
                <a:solidFill>
                  <a:srgbClr val="E6EAF0"/>
                </a:solidFill>
                <a:latin typeface="Courier New" pitchFamily="34" charset="0"/>
                <a:ea typeface="Courier New" pitchFamily="34" charset="-122"/>
                <a:cs typeface="Courier New" pitchFamily="34" charset="-120"/>
              </a:rPr>
              <a:t>    name=</a:t>
            </a:r>
            <a:pPr indent="0" marL="0">
              <a:lnSpc>
                <a:spcPct val="115000"/>
              </a:lnSpc>
              <a:buNone/>
            </a:pPr>
            <a:r>
              <a:rPr lang="en-US" sz="1150" dirty="0">
                <a:solidFill>
                  <a:srgbClr val="9CCB7A"/>
                </a:solidFill>
                <a:latin typeface="Courier New" pitchFamily="34" charset="0"/>
                <a:ea typeface="Courier New" pitchFamily="34" charset="-122"/>
                <a:cs typeface="Courier New" pitchFamily="34" charset="-120"/>
              </a:rPr>
              <a:t>"SupportAgent"</a:t>
            </a:r>
            <a:pPr indent="0" marL="0">
              <a:lnSpc>
                <a:spcPct val="115000"/>
              </a:lnSpc>
              <a:buNone/>
            </a:pPr>
            <a:r>
              <a:rPr lang="en-US" sz="1150" dirty="0">
                <a:solidFill>
                  <a:srgbClr val="E6EAF0"/>
                </a:solidFill>
                <a:latin typeface="Courier New" pitchFamily="34" charset="0"/>
                <a:ea typeface="Courier New" pitchFamily="34" charset="-122"/>
                <a:cs typeface="Courier New" pitchFamily="34" charset="-120"/>
              </a:rPr>
              <a:t>,</a:t>
            </a:r>
            <a:endParaRPr lang="en-US" sz="1150" dirty="0"/>
          </a:p>
          <a:p>
            <a:pPr indent="0" marL="0">
              <a:lnSpc>
                <a:spcPct val="115000"/>
              </a:lnSpc>
              <a:buNone/>
            </a:pPr>
            <a:r>
              <a:rPr lang="en-US" sz="1150" dirty="0">
                <a:solidFill>
                  <a:srgbClr val="E6EAF0"/>
                </a:solidFill>
                <a:latin typeface="Courier New" pitchFamily="34" charset="0"/>
                <a:ea typeface="Courier New" pitchFamily="34" charset="-122"/>
                <a:cs typeface="Courier New" pitchFamily="34" charset="-120"/>
              </a:rPr>
              <a:t>    role=</a:t>
            </a:r>
            <a:pPr indent="0" marL="0">
              <a:lnSpc>
                <a:spcPct val="115000"/>
              </a:lnSpc>
              <a:buNone/>
            </a:pPr>
            <a:r>
              <a:rPr lang="en-US" sz="1150" dirty="0">
                <a:solidFill>
                  <a:srgbClr val="9CCB7A"/>
                </a:solidFill>
                <a:latin typeface="Courier New" pitchFamily="34" charset="0"/>
                <a:ea typeface="Courier New" pitchFamily="34" charset="-122"/>
                <a:cs typeface="Courier New" pitchFamily="34" charset="-120"/>
              </a:rPr>
              <a:t>"Order support assistant"</a:t>
            </a:r>
            <a:pPr indent="0" marL="0">
              <a:lnSpc>
                <a:spcPct val="115000"/>
              </a:lnSpc>
              <a:buNone/>
            </a:pPr>
            <a:r>
              <a:rPr lang="en-US" sz="1150" dirty="0">
                <a:solidFill>
                  <a:srgbClr val="E6EAF0"/>
                </a:solidFill>
                <a:latin typeface="Courier New" pitchFamily="34" charset="0"/>
                <a:ea typeface="Courier New" pitchFamily="34" charset="-122"/>
                <a:cs typeface="Courier New" pitchFamily="34" charset="-120"/>
              </a:rPr>
              <a:t>,</a:t>
            </a:r>
            <a:endParaRPr lang="en-US" sz="1150" dirty="0"/>
          </a:p>
          <a:p>
            <a:pPr indent="0" marL="0">
              <a:lnSpc>
                <a:spcPct val="115000"/>
              </a:lnSpc>
              <a:buNone/>
            </a:pPr>
            <a:r>
              <a:rPr lang="en-US" sz="1150" dirty="0">
                <a:solidFill>
                  <a:srgbClr val="E6EAF0"/>
                </a:solidFill>
                <a:latin typeface="Courier New" pitchFamily="34" charset="0"/>
                <a:ea typeface="Courier New" pitchFamily="34" charset="-122"/>
                <a:cs typeface="Courier New" pitchFamily="34" charset="-120"/>
              </a:rPr>
              <a:t>    instructions=[</a:t>
            </a:r>
            <a:pPr indent="0" marL="0">
              <a:lnSpc>
                <a:spcPct val="115000"/>
              </a:lnSpc>
              <a:buNone/>
            </a:pPr>
            <a:r>
              <a:rPr lang="en-US" sz="1150" dirty="0">
                <a:solidFill>
                  <a:srgbClr val="9CCB7A"/>
                </a:solidFill>
                <a:latin typeface="Courier New" pitchFamily="34" charset="0"/>
                <a:ea typeface="Courier New" pitchFamily="34" charset="-122"/>
                <a:cs typeface="Courier New" pitchFamily="34" charset="-120"/>
              </a:rPr>
              <a:t>"Use tools, never invent data."</a:t>
            </a:r>
            <a:pPr indent="0" marL="0">
              <a:lnSpc>
                <a:spcPct val="115000"/>
              </a:lnSpc>
              <a:buNone/>
            </a:pPr>
            <a:r>
              <a:rPr lang="en-US" sz="1150" dirty="0">
                <a:solidFill>
                  <a:srgbClr val="E6EAF0"/>
                </a:solidFill>
                <a:latin typeface="Courier New" pitchFamily="34" charset="0"/>
                <a:ea typeface="Courier New" pitchFamily="34" charset="-122"/>
                <a:cs typeface="Courier New" pitchFamily="34" charset="-120"/>
              </a:rPr>
              <a:t>],</a:t>
            </a:r>
            <a:endParaRPr lang="en-US" sz="1150" dirty="0"/>
          </a:p>
          <a:p>
            <a:pPr indent="0" marL="0">
              <a:lnSpc>
                <a:spcPct val="115000"/>
              </a:lnSpc>
              <a:buNone/>
            </a:pPr>
            <a:r>
              <a:rPr lang="en-US" sz="1150" dirty="0">
                <a:solidFill>
                  <a:srgbClr val="E6EAF0"/>
                </a:solidFill>
                <a:latin typeface="Courier New" pitchFamily="34" charset="0"/>
                <a:ea typeface="Courier New" pitchFamily="34" charset="-122"/>
                <a:cs typeface="Courier New" pitchFamily="34" charset="-120"/>
              </a:rPr>
              <a:t>    tools=[get_order, open_ticket],</a:t>
            </a:r>
            <a:endParaRPr lang="en-US" sz="1150" dirty="0"/>
          </a:p>
          <a:p>
            <a:pPr indent="0" marL="0">
              <a:lnSpc>
                <a:spcPct val="115000"/>
              </a:lnSpc>
              <a:buNone/>
            </a:pPr>
            <a:r>
              <a:rPr lang="en-US" sz="1150" dirty="0">
                <a:solidFill>
                  <a:srgbClr val="E6EAF0"/>
                </a:solidFill>
                <a:latin typeface="Courier New" pitchFamily="34" charset="0"/>
                <a:ea typeface="Courier New" pitchFamily="34" charset="-122"/>
                <a:cs typeface="Courier New" pitchFamily="34" charset="-120"/>
              </a:rPr>
              <a:t>    llm=DaprChatClient(component_name=</a:t>
            </a:r>
            <a:pPr indent="0" marL="0">
              <a:lnSpc>
                <a:spcPct val="115000"/>
              </a:lnSpc>
              <a:buNone/>
            </a:pPr>
            <a:r>
              <a:rPr lang="en-US" sz="1150" dirty="0">
                <a:solidFill>
                  <a:srgbClr val="9CCB7A"/>
                </a:solidFill>
                <a:latin typeface="Courier New" pitchFamily="34" charset="0"/>
                <a:ea typeface="Courier New" pitchFamily="34" charset="-122"/>
                <a:cs typeface="Courier New" pitchFamily="34" charset="-120"/>
              </a:rPr>
              <a:t>"llm-provider"</a:t>
            </a:r>
            <a:pPr indent="0" marL="0">
              <a:lnSpc>
                <a:spcPct val="115000"/>
              </a:lnSpc>
              <a:buNone/>
            </a:pPr>
            <a:r>
              <a:rPr lang="en-US" sz="1150" dirty="0">
                <a:solidFill>
                  <a:srgbClr val="E6EAF0"/>
                </a:solidFill>
                <a:latin typeface="Courier New" pitchFamily="34" charset="0"/>
                <a:ea typeface="Courier New" pitchFamily="34" charset="-122"/>
                <a:cs typeface="Courier New" pitchFamily="34" charset="-120"/>
              </a:rPr>
              <a:t>),</a:t>
            </a:r>
            <a:endParaRPr lang="en-US" sz="1150" dirty="0"/>
          </a:p>
          <a:p>
            <a:pPr indent="0" marL="0">
              <a:lnSpc>
                <a:spcPct val="115000"/>
              </a:lnSpc>
              <a:buNone/>
            </a:pPr>
            <a:r>
              <a:rPr lang="en-US" sz="1150" dirty="0">
                <a:solidFill>
                  <a:srgbClr val="E6EAF0"/>
                </a:solidFill>
                <a:latin typeface="Courier New" pitchFamily="34" charset="0"/>
                <a:ea typeface="Courier New" pitchFamily="34" charset="-122"/>
                <a:cs typeface="Courier New" pitchFamily="34" charset="-120"/>
              </a:rPr>
              <a:t>    memory=AgentMemoryConfig(store=ConversationDaprStateMemory(</a:t>
            </a:r>
            <a:endParaRPr lang="en-US" sz="1150" dirty="0"/>
          </a:p>
          <a:p>
            <a:pPr indent="0" marL="0">
              <a:lnSpc>
                <a:spcPct val="115000"/>
              </a:lnSpc>
              <a:buNone/>
            </a:pPr>
            <a:r>
              <a:rPr lang="en-US" sz="1150" dirty="0">
                <a:solidFill>
                  <a:srgbClr val="E6EAF0"/>
                </a:solidFill>
                <a:latin typeface="Courier New" pitchFamily="34" charset="0"/>
                <a:ea typeface="Courier New" pitchFamily="34" charset="-122"/>
                <a:cs typeface="Courier New" pitchFamily="34" charset="-120"/>
              </a:rPr>
              <a:t>        store_name=</a:t>
            </a:r>
            <a:pPr indent="0" marL="0">
              <a:lnSpc>
                <a:spcPct val="115000"/>
              </a:lnSpc>
              <a:buNone/>
            </a:pPr>
            <a:r>
              <a:rPr lang="en-US" sz="1150" dirty="0">
                <a:solidFill>
                  <a:srgbClr val="9CCB7A"/>
                </a:solidFill>
                <a:latin typeface="Courier New" pitchFamily="34" charset="0"/>
                <a:ea typeface="Courier New" pitchFamily="34" charset="-122"/>
                <a:cs typeface="Courier New" pitchFamily="34" charset="-120"/>
              </a:rPr>
              <a:t>"agent-memory"</a:t>
            </a:r>
            <a:pPr indent="0" marL="0">
              <a:lnSpc>
                <a:spcPct val="115000"/>
              </a:lnSpc>
              <a:buNone/>
            </a:pPr>
            <a:r>
              <a:rPr lang="en-US" sz="1150" dirty="0">
                <a:solidFill>
                  <a:srgbClr val="E6EAF0"/>
                </a:solidFill>
                <a:latin typeface="Courier New" pitchFamily="34" charset="0"/>
                <a:ea typeface="Courier New" pitchFamily="34" charset="-122"/>
                <a:cs typeface="Courier New" pitchFamily="34" charset="-120"/>
              </a:rPr>
              <a:t>)),</a:t>
            </a:r>
            <a:endParaRPr lang="en-US" sz="1150" dirty="0"/>
          </a:p>
          <a:p>
            <a:pPr indent="0" marL="0">
              <a:lnSpc>
                <a:spcPct val="115000"/>
              </a:lnSpc>
              <a:buNone/>
            </a:pPr>
            <a:r>
              <a:rPr lang="en-US" sz="1150" dirty="0">
                <a:solidFill>
                  <a:srgbClr val="E6EAF0"/>
                </a:solidFill>
                <a:latin typeface="Courier New" pitchFamily="34" charset="0"/>
                <a:ea typeface="Courier New" pitchFamily="34" charset="-122"/>
                <a:cs typeface="Courier New" pitchFamily="34" charset="-120"/>
              </a:rPr>
              <a:t>    state=AgentStateConfig(store=StateStoreService(</a:t>
            </a:r>
            <a:endParaRPr lang="en-US" sz="1150" dirty="0"/>
          </a:p>
          <a:p>
            <a:pPr indent="0" marL="0">
              <a:lnSpc>
                <a:spcPct val="115000"/>
              </a:lnSpc>
              <a:buNone/>
            </a:pPr>
            <a:r>
              <a:rPr lang="en-US" sz="1150" dirty="0">
                <a:solidFill>
                  <a:srgbClr val="E6EAF0"/>
                </a:solidFill>
                <a:latin typeface="Courier New" pitchFamily="34" charset="0"/>
                <a:ea typeface="Courier New" pitchFamily="34" charset="-122"/>
                <a:cs typeface="Courier New" pitchFamily="34" charset="-120"/>
              </a:rPr>
              <a:t>        store_name=</a:t>
            </a:r>
            <a:pPr indent="0" marL="0">
              <a:lnSpc>
                <a:spcPct val="115000"/>
              </a:lnSpc>
              <a:buNone/>
            </a:pPr>
            <a:r>
              <a:rPr lang="en-US" sz="1150" dirty="0">
                <a:solidFill>
                  <a:srgbClr val="9CCB7A"/>
                </a:solidFill>
                <a:latin typeface="Courier New" pitchFamily="34" charset="0"/>
                <a:ea typeface="Courier New" pitchFamily="34" charset="-122"/>
                <a:cs typeface="Courier New" pitchFamily="34" charset="-120"/>
              </a:rPr>
              <a:t>"agent-workflow"</a:t>
            </a:r>
            <a:pPr indent="0" marL="0">
              <a:lnSpc>
                <a:spcPct val="115000"/>
              </a:lnSpc>
              <a:buNone/>
            </a:pPr>
            <a:r>
              <a:rPr lang="en-US" sz="1150" dirty="0">
                <a:solidFill>
                  <a:srgbClr val="E6EAF0"/>
                </a:solidFill>
                <a:latin typeface="Courier New" pitchFamily="34" charset="0"/>
                <a:ea typeface="Courier New" pitchFamily="34" charset="-122"/>
                <a:cs typeface="Courier New" pitchFamily="34" charset="-120"/>
              </a:rPr>
              <a:t>)),</a:t>
            </a:r>
            <a:endParaRPr lang="en-US" sz="1150" dirty="0"/>
          </a:p>
          <a:p>
            <a:pPr indent="0" marL="0">
              <a:lnSpc>
                <a:spcPct val="115000"/>
              </a:lnSpc>
              <a:buNone/>
            </a:pPr>
            <a:r>
              <a:rPr lang="en-US" sz="1150" dirty="0">
                <a:solidFill>
                  <a:srgbClr val="E6EAF0"/>
                </a:solidFill>
                <a:latin typeface="Courier New" pitchFamily="34" charset="0"/>
                <a:ea typeface="Courier New" pitchFamily="34" charset="-122"/>
                <a:cs typeface="Courier New" pitchFamily="34" charset="-120"/>
              </a:rPr>
              <a:t>)</a:t>
            </a:r>
            <a:endParaRPr lang="en-US" sz="1150" dirty="0"/>
          </a:p>
          <a:p>
            <a:pPr indent="0" marL="0">
              <a:lnSpc>
                <a:spcPct val="115000"/>
              </a:lnSpc>
              <a:buNone/>
            </a:pPr>
            <a:r>
              <a:rPr lang="en-US" sz="1150" dirty="0">
                <a:solidFill>
                  <a:srgbClr val="E6EAF0"/>
                </a:solidFill>
                <a:latin typeface="Courier New" pitchFamily="34" charset="0"/>
                <a:ea typeface="Courier New" pitchFamily="34" charset="-122"/>
                <a:cs typeface="Courier New" pitchFamily="34" charset="-120"/>
              </a:rPr>
              <a:t>AgentRunner().serve(agent, port=</a:t>
            </a:r>
            <a:pPr indent="0" marL="0">
              <a:lnSpc>
                <a:spcPct val="115000"/>
              </a:lnSpc>
              <a:buNone/>
            </a:pPr>
            <a:r>
              <a:rPr lang="en-US" sz="1150" dirty="0">
                <a:solidFill>
                  <a:srgbClr val="F2B35B"/>
                </a:solidFill>
                <a:latin typeface="Courier New" pitchFamily="34" charset="0"/>
                <a:ea typeface="Courier New" pitchFamily="34" charset="-122"/>
                <a:cs typeface="Courier New" pitchFamily="34" charset="-120"/>
              </a:rPr>
              <a:t>8001</a:t>
            </a:r>
            <a:pPr indent="0" marL="0">
              <a:lnSpc>
                <a:spcPct val="115000"/>
              </a:lnSpc>
              <a:buNone/>
            </a:pPr>
            <a:r>
              <a:rPr lang="en-US" sz="1150" dirty="0">
                <a:solidFill>
                  <a:srgbClr val="E6EAF0"/>
                </a:solidFill>
                <a:latin typeface="Courier New" pitchFamily="34" charset="0"/>
                <a:ea typeface="Courier New" pitchFamily="34" charset="-122"/>
                <a:cs typeface="Courier New" pitchFamily="34" charset="-120"/>
              </a:rPr>
              <a:t>)</a:t>
            </a:r>
            <a:endParaRPr lang="en-US" sz="1150" dirty="0"/>
          </a:p>
        </p:txBody>
      </p:sp>
      <p:sp>
        <p:nvSpPr>
          <p:cNvPr id="6" name="note @tool"/>
          <p:cNvSpPr/>
          <p:nvPr/>
        </p:nvSpPr>
        <p:spPr>
          <a:xfrm>
            <a:off x="8046720" y="1920240"/>
            <a:ext cx="3593592" cy="941832"/>
          </a:xfrm>
          <a:prstGeom prst="roundRect">
            <a:avLst>
              <a:gd name="adj" fmla="val 11650"/>
            </a:avLst>
          </a:prstGeom>
          <a:solidFill>
            <a:srgbClr val="FFFFFF"/>
          </a:solidFill>
          <a:ln w="12700">
            <a:solidFill>
              <a:srgbClr val="DDE1E6"/>
            </a:solidFill>
            <a:prstDash val="solid"/>
          </a:ln>
        </p:spPr>
      </p:sp>
      <p:sp>
        <p:nvSpPr>
          <p:cNvPr id="7" name="note title @tool"/>
          <p:cNvSpPr txBox="1"/>
          <p:nvPr/>
        </p:nvSpPr>
        <p:spPr>
          <a:xfrm>
            <a:off x="8247888" y="2029968"/>
            <a:ext cx="3227832" cy="274320"/>
          </a:xfrm>
          <a:prstGeom prst="rect">
            <a:avLst/>
          </a:prstGeom>
          <a:noFill/>
          <a:ln/>
        </p:spPr>
        <p:txBody>
          <a:bodyPr wrap="square" lIns="0" tIns="0" rIns="0" bIns="0" rtlCol="0" anchor="ctr"/>
          <a:lstStyle/>
          <a:p>
            <a:pPr indent="0" marL="0">
              <a:buNone/>
            </a:pPr>
            <a:r>
              <a:rPr lang="en-US" sz="1400" b="1" dirty="0">
                <a:solidFill>
                  <a:srgbClr val="1D5FD1"/>
                </a:solidFill>
                <a:latin typeface="Courier New" pitchFamily="34" charset="0"/>
                <a:ea typeface="Courier New" pitchFamily="34" charset="-122"/>
                <a:cs typeface="Courier New" pitchFamily="34" charset="-120"/>
              </a:rPr>
              <a:t>@tool</a:t>
            </a:r>
            <a:endParaRPr lang="en-US" sz="1400" dirty="0"/>
          </a:p>
        </p:txBody>
      </p:sp>
      <p:sp>
        <p:nvSpPr>
          <p:cNvPr id="8" name="note body @tool"/>
          <p:cNvSpPr txBox="1"/>
          <p:nvPr/>
        </p:nvSpPr>
        <p:spPr>
          <a:xfrm>
            <a:off x="8247888" y="2304288"/>
            <a:ext cx="3227832" cy="530352"/>
          </a:xfrm>
          <a:prstGeom prst="rect">
            <a:avLst/>
          </a:prstGeom>
          <a:noFill/>
          <a:ln/>
        </p:spPr>
        <p:txBody>
          <a:bodyPr wrap="square" lIns="0" tIns="0" rIns="0" bIns="0" rtlCol="0" anchor="t"/>
          <a:lstStyle/>
          <a:p>
            <a:pPr indent="0" marL="0">
              <a:buNone/>
            </a:pPr>
            <a:r>
              <a:rPr lang="en-US" sz="1200" dirty="0">
                <a:solidFill>
                  <a:srgbClr val="4A5568"/>
                </a:solidFill>
              </a:rPr>
              <a:t>Docstring + type hints become the schema the LLM sees.</a:t>
            </a:r>
            <a:endParaRPr lang="en-US" sz="1200" dirty="0"/>
          </a:p>
        </p:txBody>
      </p:sp>
      <p:sp>
        <p:nvSpPr>
          <p:cNvPr id="9" name="note llm-provider"/>
          <p:cNvSpPr/>
          <p:nvPr/>
        </p:nvSpPr>
        <p:spPr>
          <a:xfrm>
            <a:off x="8046720" y="2990088"/>
            <a:ext cx="3593592" cy="941832"/>
          </a:xfrm>
          <a:prstGeom prst="roundRect">
            <a:avLst>
              <a:gd name="adj" fmla="val 11650"/>
            </a:avLst>
          </a:prstGeom>
          <a:solidFill>
            <a:srgbClr val="FFFFFF"/>
          </a:solidFill>
          <a:ln w="12700">
            <a:solidFill>
              <a:srgbClr val="DDE1E6"/>
            </a:solidFill>
            <a:prstDash val="solid"/>
          </a:ln>
        </p:spPr>
      </p:sp>
      <p:sp>
        <p:nvSpPr>
          <p:cNvPr id="10" name="note title llm-provider"/>
          <p:cNvSpPr txBox="1"/>
          <p:nvPr/>
        </p:nvSpPr>
        <p:spPr>
          <a:xfrm>
            <a:off x="8247888" y="3099816"/>
            <a:ext cx="3227832" cy="274320"/>
          </a:xfrm>
          <a:prstGeom prst="rect">
            <a:avLst/>
          </a:prstGeom>
          <a:noFill/>
          <a:ln/>
        </p:spPr>
        <p:txBody>
          <a:bodyPr wrap="square" lIns="0" tIns="0" rIns="0" bIns="0" rtlCol="0" anchor="ctr"/>
          <a:lstStyle/>
          <a:p>
            <a:pPr indent="0" marL="0">
              <a:buNone/>
            </a:pPr>
            <a:r>
              <a:rPr lang="en-US" sz="1400" b="1" dirty="0">
                <a:solidFill>
                  <a:srgbClr val="1D5FD1"/>
                </a:solidFill>
                <a:latin typeface="Courier New" pitchFamily="34" charset="0"/>
                <a:ea typeface="Courier New" pitchFamily="34" charset="-122"/>
                <a:cs typeface="Courier New" pitchFamily="34" charset="-120"/>
              </a:rPr>
              <a:t>llm-provider</a:t>
            </a:r>
            <a:endParaRPr lang="en-US" sz="1400" dirty="0"/>
          </a:p>
        </p:txBody>
      </p:sp>
      <p:sp>
        <p:nvSpPr>
          <p:cNvPr id="11" name="note body llm-provider"/>
          <p:cNvSpPr txBox="1"/>
          <p:nvPr/>
        </p:nvSpPr>
        <p:spPr>
          <a:xfrm>
            <a:off x="8247888" y="3374136"/>
            <a:ext cx="3227832" cy="530352"/>
          </a:xfrm>
          <a:prstGeom prst="rect">
            <a:avLst/>
          </a:prstGeom>
          <a:noFill/>
          <a:ln/>
        </p:spPr>
        <p:txBody>
          <a:bodyPr wrap="square" lIns="0" tIns="0" rIns="0" bIns="0" rtlCol="0" anchor="t"/>
          <a:lstStyle/>
          <a:p>
            <a:pPr indent="0" marL="0">
              <a:buNone/>
            </a:pPr>
            <a:r>
              <a:rPr lang="en-US" sz="1200" dirty="0">
                <a:solidFill>
                  <a:srgbClr val="4A5568"/>
                </a:solidFill>
              </a:rPr>
              <a:t>A Dapr component name. Which model? That’s in the YAML.</a:t>
            </a:r>
            <a:endParaRPr lang="en-US" sz="1200" dirty="0"/>
          </a:p>
        </p:txBody>
      </p:sp>
      <p:sp>
        <p:nvSpPr>
          <p:cNvPr id="12" name="note memory / state"/>
          <p:cNvSpPr/>
          <p:nvPr/>
        </p:nvSpPr>
        <p:spPr>
          <a:xfrm>
            <a:off x="8046720" y="4059936"/>
            <a:ext cx="3593592" cy="941832"/>
          </a:xfrm>
          <a:prstGeom prst="roundRect">
            <a:avLst>
              <a:gd name="adj" fmla="val 11650"/>
            </a:avLst>
          </a:prstGeom>
          <a:solidFill>
            <a:srgbClr val="FFFFFF"/>
          </a:solidFill>
          <a:ln w="12700">
            <a:solidFill>
              <a:srgbClr val="DDE1E6"/>
            </a:solidFill>
            <a:prstDash val="solid"/>
          </a:ln>
        </p:spPr>
      </p:sp>
      <p:sp>
        <p:nvSpPr>
          <p:cNvPr id="13" name="note title memory / state"/>
          <p:cNvSpPr txBox="1"/>
          <p:nvPr/>
        </p:nvSpPr>
        <p:spPr>
          <a:xfrm>
            <a:off x="8247888" y="4169664"/>
            <a:ext cx="3227832" cy="274320"/>
          </a:xfrm>
          <a:prstGeom prst="rect">
            <a:avLst/>
          </a:prstGeom>
          <a:noFill/>
          <a:ln/>
        </p:spPr>
        <p:txBody>
          <a:bodyPr wrap="square" lIns="0" tIns="0" rIns="0" bIns="0" rtlCol="0" anchor="ctr"/>
          <a:lstStyle/>
          <a:p>
            <a:pPr indent="0" marL="0">
              <a:buNone/>
            </a:pPr>
            <a:r>
              <a:rPr lang="en-US" sz="1400" b="1" dirty="0">
                <a:solidFill>
                  <a:srgbClr val="1D5FD1"/>
                </a:solidFill>
                <a:latin typeface="Courier New" pitchFamily="34" charset="0"/>
                <a:ea typeface="Courier New" pitchFamily="34" charset="-122"/>
                <a:cs typeface="Courier New" pitchFamily="34" charset="-120"/>
              </a:rPr>
              <a:t>memory / state</a:t>
            </a:r>
            <a:endParaRPr lang="en-US" sz="1400" dirty="0"/>
          </a:p>
        </p:txBody>
      </p:sp>
      <p:sp>
        <p:nvSpPr>
          <p:cNvPr id="14" name="note body memory / state"/>
          <p:cNvSpPr txBox="1"/>
          <p:nvPr/>
        </p:nvSpPr>
        <p:spPr>
          <a:xfrm>
            <a:off x="8247888" y="4443984"/>
            <a:ext cx="3227832" cy="530352"/>
          </a:xfrm>
          <a:prstGeom prst="rect">
            <a:avLst/>
          </a:prstGeom>
          <a:noFill/>
          <a:ln/>
        </p:spPr>
        <p:txBody>
          <a:bodyPr wrap="square" lIns="0" tIns="0" rIns="0" bIns="0" rtlCol="0" anchor="t"/>
          <a:lstStyle/>
          <a:p>
            <a:pPr indent="0" marL="0">
              <a:buNone/>
            </a:pPr>
            <a:r>
              <a:rPr lang="en-US" sz="1200" dirty="0">
                <a:solidFill>
                  <a:srgbClr val="4A5568"/>
                </a:solidFill>
              </a:rPr>
              <a:t>Two state stores: chat history, and workflow checkpoints.</a:t>
            </a:r>
            <a:endParaRPr lang="en-US" sz="1200" dirty="0"/>
          </a:p>
        </p:txBody>
      </p:sp>
      <p:sp>
        <p:nvSpPr>
          <p:cNvPr id="15" name="note serve"/>
          <p:cNvSpPr/>
          <p:nvPr/>
        </p:nvSpPr>
        <p:spPr>
          <a:xfrm>
            <a:off x="8046720" y="5129784"/>
            <a:ext cx="3593592" cy="941832"/>
          </a:xfrm>
          <a:prstGeom prst="roundRect">
            <a:avLst>
              <a:gd name="adj" fmla="val 11650"/>
            </a:avLst>
          </a:prstGeom>
          <a:solidFill>
            <a:srgbClr val="FFFFFF"/>
          </a:solidFill>
          <a:ln w="12700">
            <a:solidFill>
              <a:srgbClr val="DDE1E6"/>
            </a:solidFill>
            <a:prstDash val="solid"/>
          </a:ln>
        </p:spPr>
      </p:sp>
      <p:sp>
        <p:nvSpPr>
          <p:cNvPr id="16" name="note title serve"/>
          <p:cNvSpPr txBox="1"/>
          <p:nvPr/>
        </p:nvSpPr>
        <p:spPr>
          <a:xfrm>
            <a:off x="8247888" y="5239512"/>
            <a:ext cx="3227832" cy="274320"/>
          </a:xfrm>
          <a:prstGeom prst="rect">
            <a:avLst/>
          </a:prstGeom>
          <a:noFill/>
          <a:ln/>
        </p:spPr>
        <p:txBody>
          <a:bodyPr wrap="square" lIns="0" tIns="0" rIns="0" bIns="0" rtlCol="0" anchor="ctr"/>
          <a:lstStyle/>
          <a:p>
            <a:pPr indent="0" marL="0">
              <a:buNone/>
            </a:pPr>
            <a:r>
              <a:rPr lang="en-US" sz="1400" b="1" dirty="0">
                <a:solidFill>
                  <a:srgbClr val="1D5FD1"/>
                </a:solidFill>
                <a:latin typeface="Courier New" pitchFamily="34" charset="0"/>
                <a:ea typeface="Courier New" pitchFamily="34" charset="-122"/>
                <a:cs typeface="Courier New" pitchFamily="34" charset="-120"/>
              </a:rPr>
              <a:t>serve</a:t>
            </a:r>
            <a:endParaRPr lang="en-US" sz="1400" dirty="0"/>
          </a:p>
        </p:txBody>
      </p:sp>
      <p:sp>
        <p:nvSpPr>
          <p:cNvPr id="17" name="note body serve"/>
          <p:cNvSpPr txBox="1"/>
          <p:nvPr/>
        </p:nvSpPr>
        <p:spPr>
          <a:xfrm>
            <a:off x="8247888" y="5513832"/>
            <a:ext cx="3227832" cy="530352"/>
          </a:xfrm>
          <a:prstGeom prst="rect">
            <a:avLst/>
          </a:prstGeom>
          <a:noFill/>
          <a:ln/>
        </p:spPr>
        <p:txBody>
          <a:bodyPr wrap="square" lIns="0" tIns="0" rIns="0" bIns="0" rtlCol="0" anchor="t"/>
          <a:lstStyle/>
          <a:p>
            <a:pPr indent="0" marL="0">
              <a:buNone/>
            </a:pPr>
            <a:r>
              <a:rPr lang="en-US" sz="1200" dirty="0">
                <a:solidFill>
                  <a:srgbClr val="4A5568"/>
                </a:solidFill>
              </a:rPr>
              <a:t>POST /agent/run returns an instance id; GET /agent/instances/{id} returns the result.</a:t>
            </a:r>
            <a:endParaRPr lang="en-US" sz="1200" dirty="0"/>
          </a:p>
        </p:txBody>
      </p:sp>
      <p:sp>
        <p:nvSpPr>
          <p:cNvPr id="18" name="Text 0"/>
          <p:cNvSpPr/>
          <p:nvPr>
            <p:ph idx="102" type="body" hasCustomPrompt="1"/>
          </p:nvPr>
        </p:nvSpPr>
        <p:spPr>
          <a:xfrm>
            <a:off x="548640" y="6263640"/>
            <a:ext cx="9601200" cy="320040"/>
          </a:xfrm>
          <a:prstGeom prst="rect">
            <a:avLst/>
          </a:prstGeom>
          <a:noFill/>
          <a:ln/>
        </p:spPr>
        <p:txBody>
          <a:bodyPr wrap="square" lIns="0" tIns="0" rIns="0" bIns="0" rtlCol="0"/>
          <a:lstStyle/>
          <a:p>
            <a:pPr indent="0" marL="0">
              <a:buNone/>
            </a:pPr>
            <a:r>
              <a:rPr lang="en-US" sz="1100" dirty="0">
                <a:solidFill>
                  <a:srgbClr val="6A7179"/>
                </a:solidFill>
              </a:rPr>
              <a:t>Full code: demo/agent.py and demo/tools.py (about 60 lines total)</a:t>
            </a:r>
            <a:endParaRPr lang="en-US" sz="1100" dirty="0"/>
          </a:p>
        </p:txBody>
      </p:sp>
      <p:sp>
        <p:nvSpPr>
          <p:cNvPr id="25" name="Slide Number Placeholder 0"/>
          <p:cNvSpPr>
            <a:spLocks noGrp="1"/>
          </p:cNvSpPr>
          <p:nvPr>
            <p:ph type="sldNum" sz="quarter" idx="4294967295"/>
          </p:nvPr>
        </p:nvSpPr>
        <p:spPr>
          <a:xfrm>
            <a:off x="11183112" y="6263640"/>
            <a:ext cx="4572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6A7179"/>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7315200" cy="320040"/>
          </a:xfrm>
          <a:prstGeom prst="rect">
            <a:avLst/>
          </a:prstGeom>
          <a:noFill/>
          <a:ln/>
        </p:spPr>
        <p:txBody>
          <a:bodyPr wrap="square" lIns="0" tIns="0" rIns="0" bIns="0" rtlCol="0"/>
          <a:lstStyle/>
          <a:p>
            <a:pPr indent="0" marL="0">
              <a:buNone/>
            </a:pPr>
            <a:r>
              <a:rPr lang="en-US" sz="1100" b="1" spc="200" kern="0" dirty="0">
                <a:solidFill>
                  <a:srgbClr val="5CA0FF"/>
                </a:solidFill>
              </a:rPr>
              <a:t>DEMO · LIVE</a:t>
            </a:r>
            <a:endParaRPr lang="en-US" sz="1100" dirty="0"/>
          </a:p>
        </p:txBody>
      </p:sp>
      <p:sp>
        <p:nvSpPr>
          <p:cNvPr id="3" name="Text 0"/>
          <p:cNvSpPr/>
          <p:nvPr>
            <p:ph idx="101" type="title" hasCustomPrompt="1"/>
          </p:nvPr>
        </p:nvSpPr>
        <p:spPr>
          <a:xfrm>
            <a:off x="548640" y="731520"/>
            <a:ext cx="11091672" cy="1143000"/>
          </a:xfrm>
          <a:prstGeom prst="rect">
            <a:avLst/>
          </a:prstGeom>
          <a:noFill/>
          <a:ln/>
        </p:spPr>
        <p:txBody>
          <a:bodyPr wrap="square" lIns="0" tIns="0" rIns="0" bIns="0" rtlCol="0" anchor="t"/>
          <a:lstStyle/>
          <a:p>
            <a:pPr algn="l" indent="0" marL="0">
              <a:buNone/>
            </a:pPr>
            <a:r>
              <a:rPr lang="en-US" sz="3000" b="1" dirty="0">
                <a:solidFill>
                  <a:srgbClr val="F5F6F2"/>
                </a:solidFill>
              </a:rPr>
              <a:t>Run it, ask it, kill it, watch it finish anyway</a:t>
            </a:r>
            <a:endParaRPr lang="en-US" sz="3000" dirty="0"/>
          </a:p>
        </p:txBody>
      </p:sp>
      <p:sp>
        <p:nvSpPr>
          <p:cNvPr id="4" name="step 1"/>
          <p:cNvSpPr/>
          <p:nvPr/>
        </p:nvSpPr>
        <p:spPr>
          <a:xfrm>
            <a:off x="548640" y="2148840"/>
            <a:ext cx="3514344" cy="3291840"/>
          </a:xfrm>
          <a:prstGeom prst="roundRect">
            <a:avLst>
              <a:gd name="adj" fmla="val 3333"/>
            </a:avLst>
          </a:prstGeom>
          <a:solidFill>
            <a:srgbClr val="16233A"/>
          </a:solidFill>
          <a:ln w="12700">
            <a:solidFill>
              <a:srgbClr val="2A3A55"/>
            </a:solidFill>
            <a:prstDash val="solid"/>
          </a:ln>
        </p:spPr>
      </p:sp>
      <p:sp>
        <p:nvSpPr>
          <p:cNvPr id="5" name="step label 1"/>
          <p:cNvSpPr txBox="1"/>
          <p:nvPr/>
        </p:nvSpPr>
        <p:spPr>
          <a:xfrm>
            <a:off x="822960" y="2423160"/>
            <a:ext cx="2965704" cy="274320"/>
          </a:xfrm>
          <a:prstGeom prst="rect">
            <a:avLst/>
          </a:prstGeom>
          <a:noFill/>
          <a:ln/>
        </p:spPr>
        <p:txBody>
          <a:bodyPr wrap="square" lIns="0" tIns="0" rIns="0" bIns="0" rtlCol="0" anchor="ctr"/>
          <a:lstStyle/>
          <a:p>
            <a:pPr indent="0" marL="0">
              <a:buNone/>
            </a:pPr>
            <a:r>
              <a:rPr lang="en-US" sz="1100" b="1" spc="200" kern="0" dirty="0">
                <a:solidFill>
                  <a:srgbClr val="5CA0FF"/>
                </a:solidFill>
              </a:rPr>
              <a:t>1 · RUN</a:t>
            </a:r>
            <a:endParaRPr lang="en-US" sz="1100" dirty="0"/>
          </a:p>
        </p:txBody>
      </p:sp>
      <p:sp>
        <p:nvSpPr>
          <p:cNvPr id="6" name="step code box 1"/>
          <p:cNvSpPr/>
          <p:nvPr/>
        </p:nvSpPr>
        <p:spPr>
          <a:xfrm>
            <a:off x="822960" y="2834640"/>
            <a:ext cx="2965704" cy="1234440"/>
          </a:xfrm>
          <a:prstGeom prst="roundRect">
            <a:avLst>
              <a:gd name="adj" fmla="val 8889"/>
            </a:avLst>
          </a:prstGeom>
          <a:solidFill>
            <a:srgbClr val="0A1220"/>
          </a:solidFill>
          <a:ln w="12700">
            <a:solidFill>
              <a:srgbClr val="0A1220"/>
            </a:solidFill>
            <a:prstDash val="solid"/>
          </a:ln>
        </p:spPr>
      </p:sp>
      <p:sp>
        <p:nvSpPr>
          <p:cNvPr id="7" name="step code 1"/>
          <p:cNvSpPr txBox="1"/>
          <p:nvPr/>
        </p:nvSpPr>
        <p:spPr>
          <a:xfrm>
            <a:off x="960120" y="2926080"/>
            <a:ext cx="2691384" cy="1051560"/>
          </a:xfrm>
          <a:prstGeom prst="rect">
            <a:avLst/>
          </a:prstGeom>
          <a:noFill/>
          <a:ln/>
        </p:spPr>
        <p:txBody>
          <a:bodyPr wrap="square" lIns="0" tIns="0" rIns="0" bIns="0" rtlCol="0" anchor="t"/>
          <a:lstStyle/>
          <a:p>
            <a:pPr indent="0" marL="0">
              <a:lnSpc>
                <a:spcPct val="120000"/>
              </a:lnSpc>
              <a:buNone/>
            </a:pPr>
            <a:r>
              <a:rPr lang="en-US" sz="1100" dirty="0">
                <a:solidFill>
                  <a:srgbClr val="E6EAF0"/>
                </a:solidFill>
                <a:latin typeface="Courier New" pitchFamily="34" charset="0"/>
                <a:ea typeface="Courier New" pitchFamily="34" charset="-122"/>
                <a:cs typeface="Courier New" pitchFamily="34" charset="-120"/>
              </a:rPr>
              <a:t>dapr run --app-id support-agent</a:t>
            </a:r>
            <a:endParaRPr lang="en-US" sz="1100" dirty="0"/>
          </a:p>
          <a:p>
            <a:pPr indent="0" marL="0">
              <a:lnSpc>
                <a:spcPct val="120000"/>
              </a:lnSpc>
              <a:buNone/>
            </a:pPr>
            <a:r>
              <a:rPr lang="en-US" sz="1100" dirty="0">
                <a:solidFill>
                  <a:srgbClr val="E6EAF0"/>
                </a:solidFill>
                <a:latin typeface="Courier New" pitchFamily="34" charset="0"/>
                <a:ea typeface="Courier New" pitchFamily="34" charset="-122"/>
                <a:cs typeface="Courier New" pitchFamily="34" charset="-120"/>
              </a:rPr>
              <a:t>  --resources-path resources</a:t>
            </a:r>
            <a:endParaRPr lang="en-US" sz="1100" dirty="0"/>
          </a:p>
          <a:p>
            <a:pPr indent="0" marL="0">
              <a:lnSpc>
                <a:spcPct val="120000"/>
              </a:lnSpc>
              <a:buNone/>
            </a:pPr>
            <a:r>
              <a:rPr lang="en-US" sz="1100" dirty="0">
                <a:solidFill>
                  <a:srgbClr val="E6EAF0"/>
                </a:solidFill>
                <a:latin typeface="Courier New" pitchFamily="34" charset="0"/>
                <a:ea typeface="Courier New" pitchFamily="34" charset="-122"/>
                <a:cs typeface="Courier New" pitchFamily="34" charset="-120"/>
              </a:rPr>
              <a:t>  -- python agent.py</a:t>
            </a:r>
            <a:endParaRPr lang="en-US" sz="1100" dirty="0"/>
          </a:p>
        </p:txBody>
      </p:sp>
      <p:sp>
        <p:nvSpPr>
          <p:cNvPr id="8" name="step desc 1"/>
          <p:cNvSpPr txBox="1"/>
          <p:nvPr/>
        </p:nvSpPr>
        <p:spPr>
          <a:xfrm>
            <a:off x="822960" y="4251960"/>
            <a:ext cx="2965704" cy="1554480"/>
          </a:xfrm>
          <a:prstGeom prst="rect">
            <a:avLst/>
          </a:prstGeom>
          <a:noFill/>
          <a:ln/>
        </p:spPr>
        <p:txBody>
          <a:bodyPr wrap="square" lIns="0" tIns="0" rIns="0" bIns="0" rtlCol="0" anchor="t"/>
          <a:lstStyle/>
          <a:p>
            <a:pPr indent="0" marL="0">
              <a:buNone/>
            </a:pPr>
            <a:r>
              <a:rPr lang="en-US" sz="1400" dirty="0">
                <a:solidFill>
                  <a:srgbClr val="B8C4D6"/>
                </a:solidFill>
              </a:rPr>
              <a:t>Sidecar starts, loads the YAML components, app listens on 8001.</a:t>
            </a:r>
            <a:endParaRPr lang="en-US" sz="1400" dirty="0"/>
          </a:p>
        </p:txBody>
      </p:sp>
      <p:sp>
        <p:nvSpPr>
          <p:cNvPr id="9" name="step 2"/>
          <p:cNvSpPr/>
          <p:nvPr/>
        </p:nvSpPr>
        <p:spPr>
          <a:xfrm>
            <a:off x="4337304" y="2148840"/>
            <a:ext cx="3514344" cy="3291840"/>
          </a:xfrm>
          <a:prstGeom prst="roundRect">
            <a:avLst>
              <a:gd name="adj" fmla="val 3333"/>
            </a:avLst>
          </a:prstGeom>
          <a:solidFill>
            <a:srgbClr val="16233A"/>
          </a:solidFill>
          <a:ln w="12700">
            <a:solidFill>
              <a:srgbClr val="2A3A55"/>
            </a:solidFill>
            <a:prstDash val="solid"/>
          </a:ln>
        </p:spPr>
      </p:sp>
      <p:sp>
        <p:nvSpPr>
          <p:cNvPr id="10" name="step label 2"/>
          <p:cNvSpPr txBox="1"/>
          <p:nvPr/>
        </p:nvSpPr>
        <p:spPr>
          <a:xfrm>
            <a:off x="4611624" y="2423160"/>
            <a:ext cx="2965704" cy="274320"/>
          </a:xfrm>
          <a:prstGeom prst="rect">
            <a:avLst/>
          </a:prstGeom>
          <a:noFill/>
          <a:ln/>
        </p:spPr>
        <p:txBody>
          <a:bodyPr wrap="square" lIns="0" tIns="0" rIns="0" bIns="0" rtlCol="0" anchor="ctr"/>
          <a:lstStyle/>
          <a:p>
            <a:pPr indent="0" marL="0">
              <a:buNone/>
            </a:pPr>
            <a:r>
              <a:rPr lang="en-US" sz="1100" b="1" spc="200" kern="0" dirty="0">
                <a:solidFill>
                  <a:srgbClr val="5CA0FF"/>
                </a:solidFill>
              </a:rPr>
              <a:t>2 · ASK</a:t>
            </a:r>
            <a:endParaRPr lang="en-US" sz="1100" dirty="0"/>
          </a:p>
        </p:txBody>
      </p:sp>
      <p:sp>
        <p:nvSpPr>
          <p:cNvPr id="11" name="step code box 2"/>
          <p:cNvSpPr/>
          <p:nvPr/>
        </p:nvSpPr>
        <p:spPr>
          <a:xfrm>
            <a:off x="4611624" y="2834640"/>
            <a:ext cx="2965704" cy="1234440"/>
          </a:xfrm>
          <a:prstGeom prst="roundRect">
            <a:avLst>
              <a:gd name="adj" fmla="val 8889"/>
            </a:avLst>
          </a:prstGeom>
          <a:solidFill>
            <a:srgbClr val="0A1220"/>
          </a:solidFill>
          <a:ln w="12700">
            <a:solidFill>
              <a:srgbClr val="0A1220"/>
            </a:solidFill>
            <a:prstDash val="solid"/>
          </a:ln>
        </p:spPr>
      </p:sp>
      <p:sp>
        <p:nvSpPr>
          <p:cNvPr id="12" name="step code 2"/>
          <p:cNvSpPr txBox="1"/>
          <p:nvPr/>
        </p:nvSpPr>
        <p:spPr>
          <a:xfrm>
            <a:off x="4748784" y="2926080"/>
            <a:ext cx="2691384" cy="1051560"/>
          </a:xfrm>
          <a:prstGeom prst="rect">
            <a:avLst/>
          </a:prstGeom>
          <a:noFill/>
          <a:ln/>
        </p:spPr>
        <p:txBody>
          <a:bodyPr wrap="square" lIns="0" tIns="0" rIns="0" bIns="0" rtlCol="0" anchor="t"/>
          <a:lstStyle/>
          <a:p>
            <a:pPr indent="0" marL="0">
              <a:lnSpc>
                <a:spcPct val="120000"/>
              </a:lnSpc>
              <a:buNone/>
            </a:pPr>
            <a:r>
              <a:rPr lang="en-US" sz="1100" dirty="0">
                <a:solidFill>
                  <a:srgbClr val="E6EAF0"/>
                </a:solidFill>
                <a:latin typeface="Courier New" pitchFamily="34" charset="0"/>
                <a:ea typeface="Courier New" pitchFamily="34" charset="-122"/>
                <a:cs typeface="Courier New" pitchFamily="34" charset="-120"/>
              </a:rPr>
              <a:t>POST /agent/run</a:t>
            </a:r>
            <a:endParaRPr lang="en-US" sz="1100" dirty="0"/>
          </a:p>
          <a:p>
            <a:pPr indent="0" marL="0">
              <a:lnSpc>
                <a:spcPct val="120000"/>
              </a:lnSpc>
              <a:buNone/>
            </a:pPr>
            <a:r>
              <a:rPr lang="en-US" sz="1100" dirty="0">
                <a:solidFill>
                  <a:srgbClr val="E6EAF0"/>
                </a:solidFill>
                <a:latin typeface="Courier New" pitchFamily="34" charset="0"/>
                <a:ea typeface="Courier New" pitchFamily="34" charset="-122"/>
                <a:cs typeface="Courier New" pitchFamily="34" charset="-120"/>
              </a:rPr>
              <a:t>{"task": "Where is my</a:t>
            </a:r>
            <a:endParaRPr lang="en-US" sz="1100" dirty="0"/>
          </a:p>
          <a:p>
            <a:pPr indent="0" marL="0">
              <a:lnSpc>
                <a:spcPct val="120000"/>
              </a:lnSpc>
              <a:buNone/>
            </a:pPr>
            <a:r>
              <a:rPr lang="en-US" sz="1100" dirty="0">
                <a:solidFill>
                  <a:srgbClr val="E6EAF0"/>
                </a:solidFill>
                <a:latin typeface="Courier New" pitchFamily="34" charset="0"/>
                <a:ea typeface="Courier New" pitchFamily="34" charset="-122"/>
                <a:cs typeface="Courier New" pitchFamily="34" charset="-120"/>
              </a:rPr>
              <a:t>  order 1042?"}</a:t>
            </a:r>
            <a:endParaRPr lang="en-US" sz="1100" dirty="0"/>
          </a:p>
        </p:txBody>
      </p:sp>
      <p:sp>
        <p:nvSpPr>
          <p:cNvPr id="13" name="step desc 2"/>
          <p:cNvSpPr txBox="1"/>
          <p:nvPr/>
        </p:nvSpPr>
        <p:spPr>
          <a:xfrm>
            <a:off x="4611624" y="4251960"/>
            <a:ext cx="2965704" cy="1554480"/>
          </a:xfrm>
          <a:prstGeom prst="rect">
            <a:avLst/>
          </a:prstGeom>
          <a:noFill/>
          <a:ln/>
        </p:spPr>
        <p:txBody>
          <a:bodyPr wrap="square" lIns="0" tIns="0" rIns="0" bIns="0" rtlCol="0" anchor="t"/>
          <a:lstStyle/>
          <a:p>
            <a:pPr indent="0" marL="0">
              <a:buNone/>
            </a:pPr>
            <a:r>
              <a:rPr lang="en-US" sz="1400" dirty="0">
                <a:solidFill>
                  <a:srgbClr val="B8C4D6"/>
                </a:solidFill>
              </a:rPr>
              <a:t>Returns an instance id. LLM picks get_order, calls it, answers. GET /agent/instances/{id} shows every step.</a:t>
            </a:r>
            <a:endParaRPr lang="en-US" sz="1400" dirty="0"/>
          </a:p>
        </p:txBody>
      </p:sp>
      <p:sp>
        <p:nvSpPr>
          <p:cNvPr id="14" name="step 3"/>
          <p:cNvSpPr/>
          <p:nvPr/>
        </p:nvSpPr>
        <p:spPr>
          <a:xfrm>
            <a:off x="8125968" y="2148840"/>
            <a:ext cx="3514344" cy="3291840"/>
          </a:xfrm>
          <a:prstGeom prst="roundRect">
            <a:avLst>
              <a:gd name="adj" fmla="val 3333"/>
            </a:avLst>
          </a:prstGeom>
          <a:solidFill>
            <a:srgbClr val="1D5FD1"/>
          </a:solidFill>
          <a:ln w="12700">
            <a:solidFill>
              <a:srgbClr val="1D5FD1"/>
            </a:solidFill>
            <a:prstDash val="solid"/>
          </a:ln>
        </p:spPr>
      </p:sp>
      <p:sp>
        <p:nvSpPr>
          <p:cNvPr id="15" name="step label 3"/>
          <p:cNvSpPr txBox="1"/>
          <p:nvPr/>
        </p:nvSpPr>
        <p:spPr>
          <a:xfrm>
            <a:off x="8400288" y="2423160"/>
            <a:ext cx="2965704" cy="274320"/>
          </a:xfrm>
          <a:prstGeom prst="rect">
            <a:avLst/>
          </a:prstGeom>
          <a:noFill/>
          <a:ln/>
        </p:spPr>
        <p:txBody>
          <a:bodyPr wrap="square" lIns="0" tIns="0" rIns="0" bIns="0" rtlCol="0" anchor="ctr"/>
          <a:lstStyle/>
          <a:p>
            <a:pPr indent="0" marL="0">
              <a:buNone/>
            </a:pPr>
            <a:r>
              <a:rPr lang="en-US" sz="1100" b="1" spc="200" kern="0" dirty="0">
                <a:solidFill>
                  <a:srgbClr val="F5F6F2"/>
                </a:solidFill>
              </a:rPr>
              <a:t>3 · KILL IT</a:t>
            </a:r>
            <a:endParaRPr lang="en-US" sz="1100" dirty="0"/>
          </a:p>
        </p:txBody>
      </p:sp>
      <p:sp>
        <p:nvSpPr>
          <p:cNvPr id="16" name="step code box 3"/>
          <p:cNvSpPr/>
          <p:nvPr/>
        </p:nvSpPr>
        <p:spPr>
          <a:xfrm>
            <a:off x="8400288" y="2834640"/>
            <a:ext cx="2965704" cy="1234440"/>
          </a:xfrm>
          <a:prstGeom prst="roundRect">
            <a:avLst>
              <a:gd name="adj" fmla="val 8889"/>
            </a:avLst>
          </a:prstGeom>
          <a:solidFill>
            <a:srgbClr val="0A1220"/>
          </a:solidFill>
          <a:ln w="12700">
            <a:solidFill>
              <a:srgbClr val="0A1220"/>
            </a:solidFill>
            <a:prstDash val="solid"/>
          </a:ln>
        </p:spPr>
      </p:sp>
      <p:sp>
        <p:nvSpPr>
          <p:cNvPr id="17" name="step code 3"/>
          <p:cNvSpPr txBox="1"/>
          <p:nvPr/>
        </p:nvSpPr>
        <p:spPr>
          <a:xfrm>
            <a:off x="8537448" y="2926080"/>
            <a:ext cx="2691384" cy="1051560"/>
          </a:xfrm>
          <a:prstGeom prst="rect">
            <a:avLst/>
          </a:prstGeom>
          <a:noFill/>
          <a:ln/>
        </p:spPr>
        <p:txBody>
          <a:bodyPr wrap="square" lIns="0" tIns="0" rIns="0" bIns="0" rtlCol="0" anchor="t"/>
          <a:lstStyle/>
          <a:p>
            <a:pPr indent="0" marL="0">
              <a:lnSpc>
                <a:spcPct val="120000"/>
              </a:lnSpc>
              <a:buNone/>
            </a:pPr>
            <a:r>
              <a:rPr lang="en-US" sz="1100" dirty="0">
                <a:solidFill>
                  <a:srgbClr val="E6EAF0"/>
                </a:solidFill>
                <a:latin typeface="Courier New" pitchFamily="34" charset="0"/>
                <a:ea typeface="Courier New" pitchFamily="34" charset="-122"/>
                <a:cs typeface="Courier New" pitchFamily="34" charset="-120"/>
              </a:rPr>
              <a:t>"Open a ticket for 1042"</a:t>
            </a:r>
            <a:endParaRPr lang="en-US" sz="1100" dirty="0"/>
          </a:p>
          <a:p>
            <a:pPr indent="0" marL="0">
              <a:lnSpc>
                <a:spcPct val="120000"/>
              </a:lnSpc>
              <a:buNone/>
            </a:pPr>
            <a:r>
              <a:rPr lang="en-US" sz="1100" dirty="0">
                <a:solidFill>
                  <a:srgbClr val="E6EAF0"/>
                </a:solidFill>
                <a:latin typeface="Courier New" pitchFamily="34" charset="0"/>
                <a:ea typeface="Courier New" pitchFamily="34" charset="-122"/>
                <a:cs typeface="Courier New" pitchFamily="34" charset="-120"/>
              </a:rPr>
              <a:t>^C   # during the 8s tool</a:t>
            </a:r>
            <a:endParaRPr lang="en-US" sz="1100" dirty="0"/>
          </a:p>
          <a:p>
            <a:pPr indent="0" marL="0">
              <a:lnSpc>
                <a:spcPct val="120000"/>
              </a:lnSpc>
              <a:buNone/>
            </a:pPr>
            <a:r>
              <a:rPr lang="en-US" sz="1100" dirty="0">
                <a:solidFill>
                  <a:srgbClr val="E6EAF0"/>
                </a:solidFill>
                <a:latin typeface="Courier New" pitchFamily="34" charset="0"/>
                <a:ea typeface="Courier New" pitchFamily="34" charset="-122"/>
                <a:cs typeface="Courier New" pitchFamily="34" charset="-120"/>
              </a:rPr>
              <a:t>dapr run ...   # restart</a:t>
            </a:r>
            <a:endParaRPr lang="en-US" sz="1100" dirty="0"/>
          </a:p>
        </p:txBody>
      </p:sp>
      <p:sp>
        <p:nvSpPr>
          <p:cNvPr id="18" name="step desc 3"/>
          <p:cNvSpPr txBox="1"/>
          <p:nvPr/>
        </p:nvSpPr>
        <p:spPr>
          <a:xfrm>
            <a:off x="8400288" y="4251960"/>
            <a:ext cx="2965704" cy="1554480"/>
          </a:xfrm>
          <a:prstGeom prst="rect">
            <a:avLst/>
          </a:prstGeom>
          <a:noFill/>
          <a:ln/>
        </p:spPr>
        <p:txBody>
          <a:bodyPr wrap="square" lIns="0" tIns="0" rIns="0" bIns="0" rtlCol="0" anchor="t"/>
          <a:lstStyle/>
          <a:p>
            <a:pPr indent="0" marL="0">
              <a:buNone/>
            </a:pPr>
            <a:r>
              <a:rPr lang="en-US" sz="1400" dirty="0">
                <a:solidFill>
                  <a:srgbClr val="F5F6F2"/>
                </a:solidFill>
              </a:rPr>
              <a:t>Same instance id: resumes at the tool step. The LLM call that picked the tool is not repeated.</a:t>
            </a:r>
            <a:endParaRPr lang="en-US" sz="1400" dirty="0"/>
          </a:p>
        </p:txBody>
      </p:sp>
      <p:sp>
        <p:nvSpPr>
          <p:cNvPr id="19" name="Text 0"/>
          <p:cNvSpPr/>
          <p:nvPr>
            <p:ph idx="102" type="body" hasCustomPrompt="1"/>
          </p:nvPr>
        </p:nvSpPr>
        <p:spPr>
          <a:xfrm>
            <a:off x="548640" y="6263640"/>
            <a:ext cx="9601200" cy="320040"/>
          </a:xfrm>
          <a:prstGeom prst="rect">
            <a:avLst/>
          </a:prstGeom>
          <a:noFill/>
          <a:ln/>
        </p:spPr>
        <p:txBody>
          <a:bodyPr wrap="square" lIns="0" tIns="0" rIns="0" bIns="0" rtlCol="0"/>
          <a:lstStyle/>
          <a:p>
            <a:pPr indent="0" marL="0">
              <a:buNone/>
            </a:pPr>
            <a:r>
              <a:rPr lang="en-US" sz="1100" dirty="0">
                <a:solidFill>
                  <a:srgbClr val="B8C4D6"/>
                </a:solidFill>
              </a:rPr>
              <a:t>Pre-recorded: demo/demo.mp4 (65s)   ·   live: ./demo.sh run · ask · ticket · wait</a:t>
            </a:r>
            <a:endParaRPr lang="en-US" sz="1100" dirty="0"/>
          </a:p>
        </p:txBody>
      </p:sp>
      <p:sp>
        <p:nvSpPr>
          <p:cNvPr id="25" name="Slide Number Placeholder 0"/>
          <p:cNvSpPr>
            <a:spLocks noGrp="1"/>
          </p:cNvSpPr>
          <p:nvPr>
            <p:ph type="sldNum" sz="quarter" idx="4294967295"/>
          </p:nvPr>
        </p:nvSpPr>
        <p:spPr>
          <a:xfrm>
            <a:off x="11183112" y="6263640"/>
            <a:ext cx="4572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B8C4D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548640"/>
            <a:ext cx="7315200" cy="365760"/>
          </a:xfrm>
          <a:prstGeom prst="rect">
            <a:avLst/>
          </a:prstGeom>
          <a:noFill/>
          <a:ln/>
        </p:spPr>
        <p:txBody>
          <a:bodyPr wrap="square" lIns="0" tIns="0" rIns="0" bIns="0" rtlCol="0"/>
          <a:lstStyle/>
          <a:p>
            <a:pPr indent="0" marL="0">
              <a:buNone/>
            </a:pPr>
            <a:r>
              <a:rPr lang="en-US" sz="1200" b="1" spc="300" kern="0" dirty="0">
                <a:solidFill>
                  <a:srgbClr val="F5F6F2"/>
                </a:solidFill>
              </a:rPr>
              <a:t>TAKEAWAY</a:t>
            </a:r>
            <a:endParaRPr lang="en-US" sz="1200" dirty="0"/>
          </a:p>
        </p:txBody>
      </p:sp>
      <p:sp>
        <p:nvSpPr>
          <p:cNvPr id="3" name="Text 0"/>
          <p:cNvSpPr/>
          <p:nvPr>
            <p:ph idx="101" type="title" hasCustomPrompt="1"/>
          </p:nvPr>
        </p:nvSpPr>
        <p:spPr>
          <a:xfrm>
            <a:off x="548640" y="1371600"/>
            <a:ext cx="10515600" cy="1645920"/>
          </a:xfrm>
          <a:prstGeom prst="rect">
            <a:avLst/>
          </a:prstGeom>
          <a:noFill/>
          <a:ln/>
        </p:spPr>
        <p:txBody>
          <a:bodyPr wrap="square" lIns="0" tIns="0" rIns="0" bIns="0" rtlCol="0" anchor="t"/>
          <a:lstStyle/>
          <a:p>
            <a:pPr algn="l" indent="0" marL="0">
              <a:buNone/>
            </a:pPr>
            <a:r>
              <a:rPr lang="en-US" sz="4400" b="1" dirty="0">
                <a:solidFill>
                  <a:srgbClr val="F5F6F2"/>
                </a:solidFill>
              </a:rPr>
              <a:t>Write the agent. Let Dapr keep it alive.</a:t>
            </a:r>
            <a:endParaRPr lang="en-US" sz="4400" dirty="0"/>
          </a:p>
        </p:txBody>
      </p:sp>
      <p:sp>
        <p:nvSpPr>
          <p:cNvPr id="4" name="col title Durable"/>
          <p:cNvSpPr txBox="1"/>
          <p:nvPr/>
        </p:nvSpPr>
        <p:spPr>
          <a:xfrm>
            <a:off x="548640" y="3566160"/>
            <a:ext cx="3453384" cy="457200"/>
          </a:xfrm>
          <a:prstGeom prst="rect">
            <a:avLst/>
          </a:prstGeom>
          <a:noFill/>
          <a:ln/>
        </p:spPr>
        <p:txBody>
          <a:bodyPr wrap="square" lIns="0" tIns="0" rIns="0" bIns="0" rtlCol="0" anchor="ctr"/>
          <a:lstStyle/>
          <a:p>
            <a:pPr indent="0" marL="0">
              <a:buNone/>
            </a:pPr>
            <a:r>
              <a:rPr lang="en-US" sz="2200" b="1" dirty="0">
                <a:solidFill>
                  <a:srgbClr val="F5F6F2"/>
                </a:solidFill>
              </a:rPr>
              <a:t>Durable</a:t>
            </a:r>
            <a:endParaRPr lang="en-US" sz="2200" dirty="0"/>
          </a:p>
        </p:txBody>
      </p:sp>
      <p:sp>
        <p:nvSpPr>
          <p:cNvPr id="5" name="col body Durable"/>
          <p:cNvSpPr txBox="1"/>
          <p:nvPr/>
        </p:nvSpPr>
        <p:spPr>
          <a:xfrm>
            <a:off x="548640" y="4069080"/>
            <a:ext cx="3453384" cy="822960"/>
          </a:xfrm>
          <a:prstGeom prst="rect">
            <a:avLst/>
          </a:prstGeom>
          <a:noFill/>
          <a:ln/>
        </p:spPr>
        <p:txBody>
          <a:bodyPr wrap="square" lIns="0" tIns="0" rIns="0" bIns="0" rtlCol="0" anchor="t"/>
          <a:lstStyle/>
          <a:p>
            <a:pPr indent="0" marL="0">
              <a:buNone/>
            </a:pPr>
            <a:r>
              <a:rPr lang="en-US" sz="1500" dirty="0">
                <a:solidFill>
                  <a:srgbClr val="DCE6FA"/>
                </a:solidFill>
              </a:rPr>
              <a:t>Every LLM and tool step is a checkpoint.</a:t>
            </a:r>
            <a:endParaRPr lang="en-US" sz="1500" dirty="0"/>
          </a:p>
        </p:txBody>
      </p:sp>
      <p:sp>
        <p:nvSpPr>
          <p:cNvPr id="6" name="col title Portable"/>
          <p:cNvSpPr txBox="1"/>
          <p:nvPr/>
        </p:nvSpPr>
        <p:spPr>
          <a:xfrm>
            <a:off x="4367784" y="3566160"/>
            <a:ext cx="3453384" cy="457200"/>
          </a:xfrm>
          <a:prstGeom prst="rect">
            <a:avLst/>
          </a:prstGeom>
          <a:noFill/>
          <a:ln/>
        </p:spPr>
        <p:txBody>
          <a:bodyPr wrap="square" lIns="0" tIns="0" rIns="0" bIns="0" rtlCol="0" anchor="ctr"/>
          <a:lstStyle/>
          <a:p>
            <a:pPr indent="0" marL="0">
              <a:buNone/>
            </a:pPr>
            <a:r>
              <a:rPr lang="en-US" sz="2200" b="1" dirty="0">
                <a:solidFill>
                  <a:srgbClr val="F5F6F2"/>
                </a:solidFill>
              </a:rPr>
              <a:t>Portable</a:t>
            </a:r>
            <a:endParaRPr lang="en-US" sz="2200" dirty="0"/>
          </a:p>
        </p:txBody>
      </p:sp>
      <p:sp>
        <p:nvSpPr>
          <p:cNvPr id="7" name="col body Portable"/>
          <p:cNvSpPr txBox="1"/>
          <p:nvPr/>
        </p:nvSpPr>
        <p:spPr>
          <a:xfrm>
            <a:off x="4367784" y="4069080"/>
            <a:ext cx="3453384" cy="822960"/>
          </a:xfrm>
          <a:prstGeom prst="rect">
            <a:avLst/>
          </a:prstGeom>
          <a:noFill/>
          <a:ln/>
        </p:spPr>
        <p:txBody>
          <a:bodyPr wrap="square" lIns="0" tIns="0" rIns="0" bIns="0" rtlCol="0" anchor="t"/>
          <a:lstStyle/>
          <a:p>
            <a:pPr indent="0" marL="0">
              <a:buNone/>
            </a:pPr>
            <a:r>
              <a:rPr lang="en-US" sz="1500" dirty="0">
                <a:solidFill>
                  <a:srgbClr val="DCE6FA"/>
                </a:solidFill>
              </a:rPr>
              <a:t>LLM, state, queue: swap the YAML, keep the code.</a:t>
            </a:r>
            <a:endParaRPr lang="en-US" sz="1500" dirty="0"/>
          </a:p>
        </p:txBody>
      </p:sp>
      <p:sp>
        <p:nvSpPr>
          <p:cNvPr id="8" name="col title Observable"/>
          <p:cNvSpPr txBox="1"/>
          <p:nvPr/>
        </p:nvSpPr>
        <p:spPr>
          <a:xfrm>
            <a:off x="8186928" y="3566160"/>
            <a:ext cx="3453384" cy="457200"/>
          </a:xfrm>
          <a:prstGeom prst="rect">
            <a:avLst/>
          </a:prstGeom>
          <a:noFill/>
          <a:ln/>
        </p:spPr>
        <p:txBody>
          <a:bodyPr wrap="square" lIns="0" tIns="0" rIns="0" bIns="0" rtlCol="0" anchor="ctr"/>
          <a:lstStyle/>
          <a:p>
            <a:pPr indent="0" marL="0">
              <a:buNone/>
            </a:pPr>
            <a:r>
              <a:rPr lang="en-US" sz="2200" b="1" dirty="0">
                <a:solidFill>
                  <a:srgbClr val="F5F6F2"/>
                </a:solidFill>
              </a:rPr>
              <a:t>Observable</a:t>
            </a:r>
            <a:endParaRPr lang="en-US" sz="2200" dirty="0"/>
          </a:p>
        </p:txBody>
      </p:sp>
      <p:sp>
        <p:nvSpPr>
          <p:cNvPr id="9" name="col body Observable"/>
          <p:cNvSpPr txBox="1"/>
          <p:nvPr/>
        </p:nvSpPr>
        <p:spPr>
          <a:xfrm>
            <a:off x="8186928" y="4069080"/>
            <a:ext cx="3453384" cy="822960"/>
          </a:xfrm>
          <a:prstGeom prst="rect">
            <a:avLst/>
          </a:prstGeom>
          <a:noFill/>
          <a:ln/>
        </p:spPr>
        <p:txBody>
          <a:bodyPr wrap="square" lIns="0" tIns="0" rIns="0" bIns="0" rtlCol="0" anchor="t"/>
          <a:lstStyle/>
          <a:p>
            <a:pPr indent="0" marL="0">
              <a:buNone/>
            </a:pPr>
            <a:r>
              <a:rPr lang="en-US" sz="1500" dirty="0">
                <a:solidFill>
                  <a:srgbClr val="DCE6FA"/>
                </a:solidFill>
              </a:rPr>
              <a:t>Tracing per step, out of the box.</a:t>
            </a:r>
            <a:endParaRPr lang="en-US" sz="1500" dirty="0"/>
          </a:p>
        </p:txBody>
      </p:sp>
      <p:sp>
        <p:nvSpPr>
          <p:cNvPr id="10" name="Text 0"/>
          <p:cNvSpPr/>
          <p:nvPr>
            <p:ph idx="102" type="body" hasCustomPrompt="1"/>
          </p:nvPr>
        </p:nvSpPr>
        <p:spPr>
          <a:xfrm>
            <a:off x="548640" y="5943600"/>
            <a:ext cx="10972800" cy="365760"/>
          </a:xfrm>
          <a:prstGeom prst="rect">
            <a:avLst/>
          </a:prstGeom>
          <a:noFill/>
          <a:ln/>
        </p:spPr>
        <p:txBody>
          <a:bodyPr wrap="square" lIns="0" tIns="0" rIns="0" bIns="0" rtlCol="0"/>
          <a:lstStyle/>
          <a:p>
            <a:pPr indent="0" marL="0">
              <a:buNone/>
            </a:pPr>
            <a:r>
              <a:rPr lang="en-US" sz="1300" dirty="0">
                <a:solidFill>
                  <a:srgbClr val="F5F6F2"/>
                </a:solidFill>
              </a:rPr>
              <a:t>github.com/dapr/dapr-agents   ·   pip install dapr-agents   ·   [your contact]</a:t>
            </a:r>
            <a:endParaRPr lang="en-US" sz="1300" dirty="0"/>
          </a:p>
        </p:txBody>
      </p:sp>
    </p:spTree>
  </p:cSld>
  <p:clrMapOvr>
    <a:masterClrMapping/>
  </p:clrMapOvr>
</p:sld>
</file>

<file path=ppt/theme/theme1.xml><?xml version="1.0" encoding="utf-8"?>
<a:theme xmlns:a="http://schemas.openxmlformats.org/drawingml/2006/main" name="Dapr Agents">
  <a:themeElements>
    <a:clrScheme name="Dapr Agents">
      <a:dk1>
        <a:srgbClr val="16202E"/>
      </a:dk1>
      <a:lt1>
        <a:srgbClr val="F5F6F2"/>
      </a:lt1>
      <a:dk2>
        <a:srgbClr val="0E1726"/>
      </a:dk2>
      <a:lt2>
        <a:srgbClr val="FFFFFF"/>
      </a:lt2>
      <a:accent1>
        <a:srgbClr val="1D5FD1"/>
      </a:accent1>
      <a:accent2>
        <a:srgbClr val="5CA0FF"/>
      </a:accent2>
      <a:accent3>
        <a:srgbClr val="6A7179"/>
      </a:accent3>
      <a:accent4>
        <a:srgbClr val="4A5568"/>
      </a:accent4>
      <a:accent5>
        <a:srgbClr val="B8C4D6"/>
      </a:accent5>
      <a:accent6>
        <a:srgbClr val="DDE1E6"/>
      </a:accent6>
      <a:hlink>
        <a:srgbClr val="1D5FD1"/>
      </a:hlink>
      <a:folHlink>
        <a:srgbClr val="5CA0FF"/>
      </a:folHlink>
    </a:clrScheme>
    <a:fontScheme name="Dapr Agent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Dapr Agents in 5 minutes</dc:title>
  <dc:subject>PptxGenJS Presentation</dc:subject>
  <dc:creator>Dapr Agents demo</dc:creator>
  <cp:lastModifiedBy>Dapr Agents demo</cp:lastModifiedBy>
  <cp:revision>1</cp:revision>
  <dcterms:created xsi:type="dcterms:W3CDTF">2026-10-29T16:20:07Z</dcterms:created>
  <dcterms:modified xsi:type="dcterms:W3CDTF">2026-10-29T16:20:07Z</dcterms:modified>
</cp:coreProperties>
</file>